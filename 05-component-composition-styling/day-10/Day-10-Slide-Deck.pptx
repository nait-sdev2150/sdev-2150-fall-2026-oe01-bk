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282" r:id="rId4"/>
    <p:sldId id="306" r:id="rId5"/>
    <p:sldId id="322" r:id="rId6"/>
    <p:sldId id="307" r:id="rId7"/>
    <p:sldId id="303" r:id="rId8"/>
    <p:sldId id="343" r:id="rId9"/>
    <p:sldId id="342" r:id="rId10"/>
    <p:sldId id="334" r:id="rId11"/>
    <p:sldId id="335" r:id="rId12"/>
    <p:sldId id="336" r:id="rId13"/>
    <p:sldId id="337" r:id="rId14"/>
    <p:sldId id="338" r:id="rId15"/>
    <p:sldId id="339" r:id="rId16"/>
    <p:sldId id="340" r:id="rId17"/>
    <p:sldId id="341" r:id="rId18"/>
    <p:sldId id="295" r:id="rId19"/>
    <p:sldId id="258" r:id="rId20"/>
    <p:sldId id="281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4"/>
    <p:restoredTop sz="94679"/>
  </p:normalViewPr>
  <p:slideViewPr>
    <p:cSldViewPr snapToGrid="0">
      <p:cViewPr varScale="1">
        <p:scale>
          <a:sx n="121" d="100"/>
          <a:sy n="121" d="100"/>
        </p:scale>
        <p:origin x="5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3411B5-A9B8-6D4E-A83B-91456309AD37}" type="datetimeFigureOut">
              <a:rPr lang="en-US" smtClean="0"/>
              <a:t>2/5/26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6114E8-53D3-EB43-8A56-360BB7DBB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718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BAB49-A5B2-6384-E3DF-547F4B224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B33F74-9E95-3FF6-D454-C8FE8B02C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4A9C78-3715-9929-CCA0-CC917FE0A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A795B-34AA-88EC-21E0-9B502A3D2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2019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C1B27-2AC3-687F-17B8-760C59F1F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133A79-D1B1-1F5C-EEF5-578504509A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A4A97B-D8F8-4C45-E58C-57115F947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15220-2AE2-A6FC-8F7F-808067A00F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35740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C5F39-B702-5E3F-4599-66728A78D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EDF982-2DC4-967A-9312-D6BED68F19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817537-430E-8421-E689-3B8A9D451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BC4A2-AA81-6941-9E84-50899CB54C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9296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B8AA7-95E9-3549-30F3-2B533AA02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BB8752-C939-E0A6-D433-09EC253517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E5380-5FAF-1495-42D4-FB958EF0A2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C8A2B-F13F-2168-981D-62E0E4A036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06650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E58AE-DEED-BC57-6253-696256AE0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8DBE22-9D5B-5966-0EA6-85F9746DF2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91F618-0C8C-26E0-0CF1-90EC2F5C9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D35597-1F79-E4C0-22A0-04F83E6E2B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35832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2E75-D6E9-AF40-79FD-BBF2AE7EA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DD9E8F-1DEE-EFDC-0F2E-E5EF66A1A4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0E6843-AC39-91E1-04D7-F037F8791C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7C37E-2DCA-C71C-77B6-850E14E586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805498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A4C01-C84C-9427-B684-2E837D486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9925F4-851D-1E92-3AE0-0CC265989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6C2922-EE37-3755-0762-3D6AAAEEA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ACD58-4EA1-A06B-85CC-C9B4D93CC6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8724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8B9B7-AA58-4CCF-7FBD-2FAEE5CE1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D391BD-E210-773F-DA51-92AB6912AD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644E31-2BBF-CA80-62DE-B11A84511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8057C-6C08-54ED-4358-46C9C404CE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63218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0361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951" y="2539093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8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951" y="4376057"/>
            <a:ext cx="10606097" cy="11348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</a:defRPr>
            </a:lvl1pPr>
            <a:lvl2pPr marL="457177" indent="0" algn="ctr">
              <a:buNone/>
              <a:defRPr sz="2000"/>
            </a:lvl2pPr>
            <a:lvl3pPr marL="914355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3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127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869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BAD23F-0E93-DF4A-8F98-CC7CE27E2020}"/>
              </a:ext>
            </a:extLst>
          </p:cNvPr>
          <p:cNvSpPr txBox="1"/>
          <p:nvPr/>
        </p:nvSpPr>
        <p:spPr>
          <a:xfrm>
            <a:off x="1981329" y="679939"/>
            <a:ext cx="1847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38325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5506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78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93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ighlight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8116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702183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AADA339-B7CC-2B4C-9CB9-A33E03B63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951" y="2785277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819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r large charts/images/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8118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tarburs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4283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2324503-65B2-B147-B7D0-901C284D8BB3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350AE0C-6DEA-8141-A29A-9086B1E53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32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589" indent="-228589" algn="l" defTabSz="91435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76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2943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120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297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475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2479D-7383-A062-82D7-132E719500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SDEV2150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870D04-5049-481F-17B3-6CAD790966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10: Styling Components in React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396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1445B-2B4F-5954-E61B-77DD40F77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65CDC-2775-AA01-C4E4-CBD66BB41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this lesson, students will:</a:t>
            </a:r>
          </a:p>
          <a:p>
            <a:pPr lvl="1"/>
            <a:r>
              <a:rPr lang="en-US" dirty="0"/>
              <a:t>Apply Tailwind utility classes to style React components</a:t>
            </a:r>
          </a:p>
          <a:p>
            <a:pPr lvl="1"/>
            <a:r>
              <a:rPr lang="en-US" dirty="0"/>
              <a:t>Use responsive breakpoints intentionally</a:t>
            </a:r>
          </a:p>
          <a:p>
            <a:pPr lvl="1"/>
            <a:r>
              <a:rPr lang="en-US" dirty="0"/>
              <a:t>Implement responsive layouts that adapt across screen sizes</a:t>
            </a:r>
          </a:p>
          <a:p>
            <a:pPr lvl="1"/>
            <a:r>
              <a:rPr lang="en-US" dirty="0"/>
              <a:t>Organize Tailwind classes for readability and maintainability</a:t>
            </a:r>
          </a:p>
          <a:p>
            <a:pPr marL="971550" lvl="1" indent="-51435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787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6C05A-AE25-1768-8A9B-9E1C61225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481B4-3432-EE69-114F-1E97A4260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Recap: composition and layout responsibilities</a:t>
            </a:r>
          </a:p>
          <a:p>
            <a:r>
              <a:rPr lang="en-US" dirty="0"/>
              <a:t>Utility-first styling with Tailwind</a:t>
            </a:r>
          </a:p>
          <a:p>
            <a:r>
              <a:rPr lang="en-US" dirty="0"/>
              <a:t>Responsive design and breakpoints</a:t>
            </a:r>
          </a:p>
          <a:p>
            <a:r>
              <a:rPr lang="en-US" dirty="0"/>
              <a:t>Instructor walkthrough</a:t>
            </a:r>
          </a:p>
          <a:p>
            <a:r>
              <a:rPr lang="en-US" dirty="0"/>
              <a:t>Practice and peer review</a:t>
            </a:r>
          </a:p>
          <a:p>
            <a:r>
              <a:rPr lang="en-US" dirty="0"/>
              <a:t>Exit ticket</a:t>
            </a:r>
          </a:p>
        </p:txBody>
      </p:sp>
    </p:spTree>
    <p:extLst>
      <p:ext uri="{BB962C8B-B14F-4D97-AF65-F5344CB8AC3E}">
        <p14:creationId xmlns:p14="http://schemas.microsoft.com/office/powerpoint/2010/main" val="1231324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AEED0-DDE6-8C55-40FD-B519647BD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1B982-B120-50FB-49C1-AD22E1B10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Connecting</a:t>
            </a:r>
          </a:p>
        </p:txBody>
      </p:sp>
    </p:spTree>
    <p:extLst>
      <p:ext uri="{BB962C8B-B14F-4D97-AF65-F5344CB8AC3E}">
        <p14:creationId xmlns:p14="http://schemas.microsoft.com/office/powerpoint/2010/main" val="1260317111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C1F16-3474-C259-3A81-449262C38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D7A18-9B1C-5D39-C1F3-CA18B29F3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Where we are coming from</a:t>
            </a:r>
            <a:endParaRPr lang="en-CA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A2C2F-55AB-166E-85E7-C1815433E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Lesson 09: component composition and separation of concerns</a:t>
            </a:r>
          </a:p>
          <a:p>
            <a:r>
              <a:rPr lang="en-US" dirty="0"/>
              <a:t>Layout responsibilities isolated in layout components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Today we focus on </a:t>
            </a:r>
            <a:r>
              <a:rPr lang="en-US" b="1" dirty="0"/>
              <a:t>how layouts are styled and adapted responsively</a:t>
            </a:r>
            <a:r>
              <a:rPr lang="en-US" dirty="0"/>
              <a:t>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92794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A52A6-B6C0-A97B-A6FC-A05487E60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2162D-6F79-9F91-305A-598E214D9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Quick Poll</a:t>
            </a:r>
          </a:p>
        </p:txBody>
      </p:sp>
    </p:spTree>
    <p:extLst>
      <p:ext uri="{BB962C8B-B14F-4D97-AF65-F5344CB8AC3E}">
        <p14:creationId xmlns:p14="http://schemas.microsoft.com/office/powerpoint/2010/main" val="1731326145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21949-70E6-524C-C90E-FD61F5759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Which part of responsive styling do you find most challenging?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8D638-C70C-9E14-E05B-EC549CBAB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dirty="0"/>
              <a:t>Choosing breakpoints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Managing layout changes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Keeping class lists readable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Knowing when styling is “good enough”</a:t>
            </a:r>
          </a:p>
        </p:txBody>
      </p:sp>
    </p:spTree>
    <p:extLst>
      <p:ext uri="{BB962C8B-B14F-4D97-AF65-F5344CB8AC3E}">
        <p14:creationId xmlns:p14="http://schemas.microsoft.com/office/powerpoint/2010/main" val="4045460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D1674-0C00-994F-3851-3DD0F7D40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D86F6-244E-2771-CFCA-127394EA4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Utility-First Styling</a:t>
            </a:r>
          </a:p>
        </p:txBody>
      </p:sp>
    </p:spTree>
    <p:extLst>
      <p:ext uri="{BB962C8B-B14F-4D97-AF65-F5344CB8AC3E}">
        <p14:creationId xmlns:p14="http://schemas.microsoft.com/office/powerpoint/2010/main" val="2511367113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C3932-1F51-8F04-4501-BFDA63936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Tailwind encourages consistency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29AD5-7EEF-A6B5-9788-0A900F264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Small, composable utility classes</a:t>
            </a:r>
          </a:p>
          <a:p>
            <a:r>
              <a:rPr lang="en-US" dirty="0"/>
              <a:t>Styling lives with the markup</a:t>
            </a:r>
          </a:p>
          <a:p>
            <a:r>
              <a:rPr lang="en-US" dirty="0"/>
              <a:t>Fewer one-off CSS rules</a:t>
            </a:r>
          </a:p>
          <a:p>
            <a:endParaRPr lang="en-US" dirty="0"/>
          </a:p>
          <a:p>
            <a:r>
              <a:rPr lang="en-US" dirty="0"/>
              <a:t>The goal is </a:t>
            </a:r>
            <a:r>
              <a:rPr lang="en-US" b="1" dirty="0"/>
              <a:t>clarity and consistency</a:t>
            </a:r>
            <a:r>
              <a:rPr lang="en-US" dirty="0"/>
              <a:t>, not decoration.</a:t>
            </a:r>
          </a:p>
        </p:txBody>
      </p:sp>
    </p:spTree>
    <p:extLst>
      <p:ext uri="{BB962C8B-B14F-4D97-AF65-F5344CB8AC3E}">
        <p14:creationId xmlns:p14="http://schemas.microsoft.com/office/powerpoint/2010/main" val="3128015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E8DDC-5CAF-8C2E-AC71-BD16391A4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FF2E8-4E54-ED2C-0752-EE01D1D68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Responsive Design with Tailwind</a:t>
            </a:r>
          </a:p>
        </p:txBody>
      </p:sp>
    </p:spTree>
    <p:extLst>
      <p:ext uri="{BB962C8B-B14F-4D97-AF65-F5344CB8AC3E}">
        <p14:creationId xmlns:p14="http://schemas.microsoft.com/office/powerpoint/2010/main" val="1484660151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39576-5427-0ADA-10F4-865ACD2F3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E519A-A233-24D7-52BE-831AD2B5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Breakpoints as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6DEC3-94B8-5AF7-B03D-628C50C5A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Mobile-first by default</a:t>
            </a:r>
          </a:p>
          <a:p>
            <a:r>
              <a:rPr lang="en-US" dirty="0"/>
              <a:t>Breakpoint prefixes add or override rules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Examples: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grid-cols-1 md:grid-cols-3</a:t>
            </a:r>
            <a:endParaRPr lang="en-US" dirty="0"/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gap-4 md:gap-6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dirty="0"/>
              <a:t>Think in terms of </a:t>
            </a:r>
            <a:r>
              <a:rPr lang="en-CA" b="1" i="1" dirty="0"/>
              <a:t>layout rules</a:t>
            </a:r>
            <a:r>
              <a:rPr lang="en-CA" dirty="0"/>
              <a:t>, not devices.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176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44B37-6330-3D14-994A-856BB88E2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0D9DD-B0CB-06AD-DA6C-A16CABA60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Designing for Multiple Layout Modes</a:t>
            </a:r>
          </a:p>
        </p:txBody>
      </p:sp>
    </p:spTree>
    <p:extLst>
      <p:ext uri="{BB962C8B-B14F-4D97-AF65-F5344CB8AC3E}">
        <p14:creationId xmlns:p14="http://schemas.microsoft.com/office/powerpoint/2010/main" val="3341591696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D9768-B8BB-1AEA-D538-D18DEA286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D0AB4-581D-3B24-E768-6DC3BCB7C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common real-world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FE643-E95A-8E85-A833-3F24CA2C5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Mobile: stacked content</a:t>
            </a:r>
          </a:p>
          <a:p>
            <a:r>
              <a:rPr lang="en-US" dirty="0"/>
              <a:t>Tablet: emphasis + supporting content</a:t>
            </a:r>
          </a:p>
          <a:p>
            <a:r>
              <a:rPr lang="en-US" dirty="0"/>
              <a:t>Desktop: full horizontal layout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This lesson focuses on implementing these modes intentionally.</a:t>
            </a:r>
          </a:p>
        </p:txBody>
      </p:sp>
    </p:spTree>
    <p:extLst>
      <p:ext uri="{BB962C8B-B14F-4D97-AF65-F5344CB8AC3E}">
        <p14:creationId xmlns:p14="http://schemas.microsoft.com/office/powerpoint/2010/main" val="36395276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21F8D-058A-8175-F2A7-5821479AD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F7730-3BB5-F427-473C-7B2489915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Layout Responsibility Review</a:t>
            </a:r>
          </a:p>
        </p:txBody>
      </p:sp>
    </p:spTree>
    <p:extLst>
      <p:ext uri="{BB962C8B-B14F-4D97-AF65-F5344CB8AC3E}">
        <p14:creationId xmlns:p14="http://schemas.microsoft.com/office/powerpoint/2010/main" val="746458785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EC1F1-084A-F978-AD19-FC8928A6B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40565-C5D2-B494-7F34-B87C4F83C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controls what?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43AC8-9404-3E45-2BB8-524319B1A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Layout components define grids and structure</a:t>
            </a:r>
          </a:p>
          <a:p>
            <a:r>
              <a:rPr lang="en-US" dirty="0"/>
              <a:t>Parent components control spans and composition</a:t>
            </a:r>
          </a:p>
          <a:p>
            <a:r>
              <a:rPr lang="en-US" dirty="0"/>
              <a:t>Feature components focus on content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Clear responsibilities make responsive changes easier.</a:t>
            </a:r>
          </a:p>
        </p:txBody>
      </p:sp>
    </p:spTree>
    <p:extLst>
      <p:ext uri="{BB962C8B-B14F-4D97-AF65-F5344CB8AC3E}">
        <p14:creationId xmlns:p14="http://schemas.microsoft.com/office/powerpoint/2010/main" val="7656389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49BB5-66C3-BD9B-A70C-B3B0E3966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85B8E-CFB5-5DB8-9F62-98193E27C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Reading Tailwind Classes</a:t>
            </a:r>
          </a:p>
        </p:txBody>
      </p:sp>
    </p:spTree>
    <p:extLst>
      <p:ext uri="{BB962C8B-B14F-4D97-AF65-F5344CB8AC3E}">
        <p14:creationId xmlns:p14="http://schemas.microsoft.com/office/powerpoint/2010/main" val="3204336034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2B89F-1AB9-8574-CCFA-ADBF88B73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23954-8CB9-D9D6-3E5A-0D9235836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Keeping class lists readable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95859-94EF-C7E0-B65A-C84A04C86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Group related utilities together</a:t>
            </a:r>
          </a:p>
          <a:p>
            <a:r>
              <a:rPr lang="en-US" dirty="0"/>
              <a:t>Keep breakpoint usage consistent</a:t>
            </a:r>
          </a:p>
          <a:p>
            <a:r>
              <a:rPr lang="en-US" dirty="0"/>
              <a:t>Prefer explicitness over cleverness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Readable class lists are easier to maintain.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8301625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9E497-0B96-A988-B0F7-8671A8753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D4F01-BCF7-C81D-4DF6-ED373D112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Hands-on Practice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A23C2-1004-2B1E-AEF1-B53F9E21E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CA" dirty="0"/>
              <a:t>Exercise: Define an implicit three-mode layout for front-end app</a:t>
            </a:r>
          </a:p>
          <a:p>
            <a:pPr marL="0" indent="0">
              <a:buNone/>
            </a:pPr>
            <a:r>
              <a:rPr lang="en-CA" b="1" dirty="0"/>
              <a:t>Objective: </a:t>
            </a:r>
            <a:r>
              <a:rPr lang="en-CA" dirty="0"/>
              <a:t>Implement responsive design in a front-end UI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Obtain the exercise starter files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Implement a three-mode responsive layout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Verify behavior at each breakpoint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Refine spacing and readability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Focus on intentional styling decisions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Ask questions if you are unsure of what to do or how the code works.</a:t>
            </a:r>
          </a:p>
          <a:p>
            <a:pPr marL="971527" lvl="1" indent="-514350">
              <a:buFont typeface="+mj-lt"/>
              <a:buAutoNum type="arabicPeriod"/>
            </a:pP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8885256"/>
      </p:ext>
    </p:extLst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7F87A-EC3B-6F87-073F-5EA32E945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FA4A7-5289-6F66-D4CE-FCD9F7DE8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this lesson, we covered the following: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US" dirty="0"/>
              <a:t>Apply Tailwind utility classes to style React components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US" dirty="0"/>
              <a:t>Use responsive breakpoints intentionally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US" dirty="0"/>
              <a:t>Implement responsive layouts that adapt across screen sizes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US" dirty="0"/>
              <a:t>Organize Tailwind classes for readability and maintainability</a:t>
            </a:r>
          </a:p>
          <a:p>
            <a:pPr marL="457200" lvl="1" indent="0">
              <a:buNone/>
            </a:pPr>
            <a:endParaRPr lang="en-US" dirty="0"/>
          </a:p>
          <a:p>
            <a:pPr marL="514373" indent="-514350"/>
            <a:r>
              <a:rPr lang="en-CA" dirty="0"/>
              <a:t>Complete lesson 10 checklist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7582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C17D3-7614-08E1-2AAC-01DF58360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3BE39-AE9E-C416-EC64-744B7883B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“A screenshot showing the layout at two breakpoints”</a:t>
            </a:r>
          </a:p>
          <a:p>
            <a:r>
              <a:rPr lang="en-US" dirty="0"/>
              <a:t>“A snippet demonstrating intentional responsive styling”</a:t>
            </a:r>
          </a:p>
        </p:txBody>
      </p:sp>
    </p:spTree>
    <p:extLst>
      <p:ext uri="{BB962C8B-B14F-4D97-AF65-F5344CB8AC3E}">
        <p14:creationId xmlns:p14="http://schemas.microsoft.com/office/powerpoint/2010/main" val="1481093830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Day N - PPT 1">
  <a:themeElements>
    <a:clrScheme name="NAIT 2020">
      <a:dk1>
        <a:sysClr val="windowText" lastClr="000000"/>
      </a:dk1>
      <a:lt1>
        <a:sysClr val="window" lastClr="FFFFFF"/>
      </a:lt1>
      <a:dk2>
        <a:srgbClr val="63666A"/>
      </a:dk2>
      <a:lt2>
        <a:srgbClr val="F2F2F2"/>
      </a:lt2>
      <a:accent1>
        <a:srgbClr val="002D74"/>
      </a:accent1>
      <a:accent2>
        <a:srgbClr val="00A0DF"/>
      </a:accent2>
      <a:accent3>
        <a:srgbClr val="005CB9"/>
      </a:accent3>
      <a:accent4>
        <a:srgbClr val="2AD2C9"/>
      </a:accent4>
      <a:accent5>
        <a:srgbClr val="97D700"/>
      </a:accent5>
      <a:accent6>
        <a:srgbClr val="F2A900"/>
      </a:accent6>
      <a:hlink>
        <a:srgbClr val="00AEFF"/>
      </a:hlink>
      <a:folHlink>
        <a:srgbClr val="981D9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IT PPT TEMPLATE" id="{48C832B7-36DA-FF42-A033-DC69DF6E754B}" vid="{12E7E523-AC5B-2043-BD48-32C2D6EE822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Day N - PPT 1</Template>
  <TotalTime>16758</TotalTime>
  <Words>419</Words>
  <Application>Microsoft Macintosh PowerPoint</Application>
  <PresentationFormat>Widescreen</PresentationFormat>
  <Paragraphs>95</Paragraphs>
  <Slides>20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Arial</vt:lpstr>
      <vt:lpstr>Consolas</vt:lpstr>
      <vt:lpstr>Day N - PPT 1</vt:lpstr>
      <vt:lpstr>SDEV2150</vt:lpstr>
      <vt:lpstr>Lesson Objectives</vt:lpstr>
      <vt:lpstr>Agenda</vt:lpstr>
      <vt:lpstr>Connecting</vt:lpstr>
      <vt:lpstr>Where we are coming from</vt:lpstr>
      <vt:lpstr>Quick Poll</vt:lpstr>
      <vt:lpstr>Which part of responsive styling do you find most challenging?</vt:lpstr>
      <vt:lpstr>Utility-First Styling</vt:lpstr>
      <vt:lpstr>How Tailwind encourages consistency</vt:lpstr>
      <vt:lpstr>Responsive Design with Tailwind</vt:lpstr>
      <vt:lpstr>Breakpoints as rules</vt:lpstr>
      <vt:lpstr>Designing for Multiple Layout Modes</vt:lpstr>
      <vt:lpstr>A common real-world pattern</vt:lpstr>
      <vt:lpstr>Layout Responsibility Review</vt:lpstr>
      <vt:lpstr>Who controls what?</vt:lpstr>
      <vt:lpstr>Reading Tailwind Classes</vt:lpstr>
      <vt:lpstr>Keeping class lists readable</vt:lpstr>
      <vt:lpstr>Hands-on Practice</vt:lpstr>
      <vt:lpstr>Lesson Summary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Humphrey</dc:creator>
  <cp:lastModifiedBy>Nathan Humphrey</cp:lastModifiedBy>
  <cp:revision>137</cp:revision>
  <dcterms:created xsi:type="dcterms:W3CDTF">2025-05-09T22:20:28Z</dcterms:created>
  <dcterms:modified xsi:type="dcterms:W3CDTF">2026-02-05T17:58:49Z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2025-05-09T22:21:39Z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ea09c963-5839-457c-a351-7e2868c7baef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