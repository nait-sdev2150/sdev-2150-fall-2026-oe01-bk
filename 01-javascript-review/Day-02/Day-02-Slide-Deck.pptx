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82" r:id="rId4"/>
    <p:sldId id="306" r:id="rId5"/>
    <p:sldId id="299" r:id="rId6"/>
    <p:sldId id="307" r:id="rId7"/>
    <p:sldId id="303" r:id="rId8"/>
    <p:sldId id="308" r:id="rId9"/>
    <p:sldId id="301" r:id="rId10"/>
    <p:sldId id="309" r:id="rId11"/>
    <p:sldId id="302" r:id="rId12"/>
    <p:sldId id="310" r:id="rId13"/>
    <p:sldId id="304" r:id="rId14"/>
    <p:sldId id="311" r:id="rId15"/>
    <p:sldId id="305" r:id="rId16"/>
    <p:sldId id="314" r:id="rId17"/>
    <p:sldId id="312" r:id="rId18"/>
    <p:sldId id="315" r:id="rId19"/>
    <p:sldId id="313" r:id="rId20"/>
    <p:sldId id="317" r:id="rId21"/>
    <p:sldId id="316" r:id="rId22"/>
    <p:sldId id="295" r:id="rId23"/>
    <p:sldId id="318" r:id="rId24"/>
    <p:sldId id="319" r:id="rId25"/>
    <p:sldId id="258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42"/>
    <p:restoredTop sz="94679"/>
  </p:normalViewPr>
  <p:slideViewPr>
    <p:cSldViewPr snapToGrid="0">
      <p:cViewPr varScale="1">
        <p:scale>
          <a:sx n="106" d="100"/>
          <a:sy n="106" d="100"/>
        </p:scale>
        <p:origin x="20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3411B5-A9B8-6D4E-A83B-91456309AD37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114E8-53D3-EB43-8A56-360BB7DBB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718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BAB49-A5B2-6384-E3DF-547F4B224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33F74-9E95-3FF6-D454-C8FE8B02C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A9C78-3715-9929-CCA0-CC917FE0A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6A795B-34AA-88EC-21E0-9B502A3D2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20198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C1B27-2AC3-687F-17B8-760C59F1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133A79-D1B1-1F5C-EEF5-578504509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A4A97B-D8F8-4C45-E58C-57115F947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5220-2AE2-A6FC-8F7F-808067A00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835740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EC574-A905-95F7-797C-4FA7A8083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5B7DDF-4AA7-6743-EAB2-7A480F0638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495D3D-991D-DD34-AB5A-0FF581FE6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BA23A-9C12-1013-24A0-75A7389809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911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908C1-6B38-83B0-6F8E-65306B3C6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24D64-C5B1-AC25-0CDB-BB2466AC4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86E11-5C29-1691-D1F2-ACB0244F47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69F6B-D2F4-9822-B9B2-F78F518E76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87646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3B617-4F47-3ACB-BD71-153E99AD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7A4BCC-80D5-4C3D-513A-1969F301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2D5AB-FA8B-B462-3F99-D8AFFFA66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CE58CC-A89C-DB8D-1C4A-011EE89341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6677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ABD74-7CFB-A044-1358-5D03AFF4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64EE4-7CE1-BE92-E31C-15DC12729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FB210-73E7-E3E4-2EB1-5213DB8A40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F9253F-5BA8-D860-4AA1-6495704F8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15436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6F4F-968E-8BD3-F211-35988950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848C6-9BB1-1D8F-E915-CFF798C1E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56C6A4-090D-6C69-560A-27A8451D8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3A6F4-9365-58F0-3679-9580CB6F1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73666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1B74-944A-6A5D-5686-F46B36B8C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DD1865-B2EB-3AD5-4E94-57BAB3AE74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C8F28-F989-835D-099E-F51DD0656F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7E573-D2C6-C04E-1022-1BEF4437D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0386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F47C8-DFFC-1350-A53A-DAF9F512F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8C23A-2F2F-0718-0122-31A934750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3E8B11-F6BC-A5B0-9A7E-56C3959F9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56171-F22F-2B48-EF5A-47E1BFCB5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0708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8B9B7-AA58-4CCF-7FBD-2FAEE5CE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391BD-E210-773F-DA51-92AB6912AD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44E31-2BBF-CA80-62DE-B11A84511C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8057C-6C08-54ED-4358-46C9C404CE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321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C702D-2AC0-43E1-F2F6-F35A33523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19BB8-2C5F-4602-ABAE-47306CFBF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5294F-CB41-A409-D991-4BEBAB7BC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5990E-D11C-D407-685B-E43AE8CD2C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9878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E641A9-FDE3-4583-B812-65C4064188F6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0361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92951" y="2539093"/>
            <a:ext cx="10606097" cy="1468891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800" cap="all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92951" y="4376057"/>
            <a:ext cx="10606097" cy="113483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2"/>
                </a:solidFill>
              </a:defRPr>
            </a:lvl1pPr>
            <a:lvl2pPr marL="457177" indent="0" algn="ctr">
              <a:buNone/>
              <a:defRPr sz="2000"/>
            </a:lvl2pPr>
            <a:lvl3pPr marL="914355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3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127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8690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BAD23F-0E93-DF4A-8F98-CC7CE27E2020}"/>
              </a:ext>
            </a:extLst>
          </p:cNvPr>
          <p:cNvSpPr txBox="1"/>
          <p:nvPr/>
        </p:nvSpPr>
        <p:spPr>
          <a:xfrm>
            <a:off x="1981329" y="679939"/>
            <a:ext cx="1847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238325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5506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783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393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Highlight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cap="all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481161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02183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AADA339-B7CC-2B4C-9CB9-A33E03B634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2951" y="2785277"/>
            <a:ext cx="10606097" cy="1468891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 cap="all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819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r large charts/images/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8118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starburs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4283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2324503-65B2-B147-B7D0-901C284D8BB3}" type="datetimeFigureOut">
              <a:rPr lang="en-US" smtClean="0"/>
              <a:t>1/7/26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350AE0C-6DEA-8141-A29A-9086B1E53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32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355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89" indent="-228589" algn="l" defTabSz="91435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766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943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120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297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475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5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2479D-7383-A062-82D7-132E719500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SDEV2150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870D04-5049-481F-17B3-6CAD790966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Lesson 02: </a:t>
            </a:r>
            <a:r>
              <a:rPr lang="en-CA" dirty="0"/>
              <a:t>Web Components and Composition</a:t>
            </a:r>
          </a:p>
        </p:txBody>
      </p:sp>
    </p:spTree>
    <p:extLst>
      <p:ext uri="{BB962C8B-B14F-4D97-AF65-F5344CB8AC3E}">
        <p14:creationId xmlns:p14="http://schemas.microsoft.com/office/powerpoint/2010/main" val="223962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1445B-2B4F-5954-E61B-77DD40F7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65CDC-2775-AA01-C4E4-CBD66BB41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this lesson, students will:</a:t>
            </a:r>
          </a:p>
          <a:p>
            <a:pPr marL="971550" lvl="1" indent="-514350"/>
            <a:r>
              <a:rPr lang="en-US" dirty="0"/>
              <a:t>Describe the core features of Web Components</a:t>
            </a:r>
          </a:p>
          <a:p>
            <a:pPr marL="971550" lvl="1" indent="-514350"/>
            <a:r>
              <a:rPr lang="en-US" dirty="0"/>
              <a:t>Explain composition as a UI design principle</a:t>
            </a:r>
          </a:p>
          <a:p>
            <a:pPr marL="971550" lvl="1" indent="-514350"/>
            <a:r>
              <a:rPr lang="en-US" dirty="0"/>
              <a:t>Refactor a monolithic HTML page into multiple components</a:t>
            </a:r>
          </a:p>
          <a:p>
            <a:pPr marL="971550" lvl="1" indent="-514350"/>
            <a:r>
              <a:rPr lang="en-US" dirty="0"/>
              <a:t>Evaluate when composition improves maintainability</a:t>
            </a:r>
          </a:p>
        </p:txBody>
      </p:sp>
    </p:spTree>
    <p:extLst>
      <p:ext uri="{BB962C8B-B14F-4D97-AF65-F5344CB8AC3E}">
        <p14:creationId xmlns:p14="http://schemas.microsoft.com/office/powerpoint/2010/main" val="1973787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6C05A-AE25-1768-8A9B-9E1C612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481B4-3432-EE69-114F-1E97A426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review of Web Components</a:t>
            </a:r>
          </a:p>
          <a:p>
            <a:r>
              <a:rPr lang="en-US" dirty="0"/>
              <a:t>Introduce composition</a:t>
            </a:r>
          </a:p>
          <a:p>
            <a:r>
              <a:rPr lang="en-US" dirty="0"/>
              <a:t>Instructor-led refactor demo</a:t>
            </a:r>
          </a:p>
          <a:p>
            <a:r>
              <a:rPr lang="en-US" dirty="0"/>
              <a:t>Student hands-on practice</a:t>
            </a:r>
          </a:p>
          <a:p>
            <a:r>
              <a:rPr lang="en-US" dirty="0"/>
              <a:t>Reflection and discussion</a:t>
            </a:r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324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AEED0-DDE6-8C55-40FD-B519647BD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1B982-B120-50FB-49C1-AD22E1B10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dirty="0"/>
              <a:t>Review: Web Components</a:t>
            </a:r>
          </a:p>
        </p:txBody>
      </p:sp>
    </p:spTree>
    <p:extLst>
      <p:ext uri="{BB962C8B-B14F-4D97-AF65-F5344CB8AC3E}">
        <p14:creationId xmlns:p14="http://schemas.microsoft.com/office/powerpoint/2010/main" val="1260317111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672A7-3960-6C70-DDF9-C43715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already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2B35E-AB6B-1CB0-19D2-3A319922F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SDEV1150</a:t>
            </a:r>
          </a:p>
          <a:p>
            <a:pPr lvl="1"/>
            <a:r>
              <a:rPr lang="en-US" dirty="0"/>
              <a:t>Custom elements</a:t>
            </a:r>
          </a:p>
          <a:p>
            <a:pPr lvl="1"/>
            <a:r>
              <a:rPr lang="en-US" dirty="0"/>
              <a:t>Shadow DOM</a:t>
            </a:r>
          </a:p>
          <a:p>
            <a:pPr lvl="1"/>
            <a:r>
              <a:rPr lang="en-US" dirty="0"/>
              <a:t>Templates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Today we focus less on </a:t>
            </a:r>
            <a:r>
              <a:rPr lang="en-US" i="1" dirty="0"/>
              <a:t>syntax</a:t>
            </a:r>
            <a:r>
              <a:rPr lang="en-US" dirty="0"/>
              <a:t> and more on </a:t>
            </a:r>
            <a:r>
              <a:rPr lang="en-US" i="1" dirty="0"/>
              <a:t>structure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7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A52A6-B6C0-A97B-A6FC-A05487E6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2162D-6F79-9F91-305A-598E214D9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dirty="0"/>
              <a:t>Why Composition?</a:t>
            </a:r>
          </a:p>
        </p:txBody>
      </p:sp>
    </p:spTree>
    <p:extLst>
      <p:ext uri="{BB962C8B-B14F-4D97-AF65-F5344CB8AC3E}">
        <p14:creationId xmlns:p14="http://schemas.microsoft.com/office/powerpoint/2010/main" val="1731326145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21949-70E6-524C-C90E-FD61F5759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 with large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8D638-C70C-9E14-E05B-EC549CBAB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file does everything</a:t>
            </a:r>
          </a:p>
          <a:p>
            <a:r>
              <a:rPr lang="en-US" dirty="0"/>
              <a:t>Hard to reason about</a:t>
            </a:r>
          </a:p>
          <a:p>
            <a:r>
              <a:rPr lang="en-US" dirty="0"/>
              <a:t>Difficult to reuse</a:t>
            </a:r>
          </a:p>
          <a:p>
            <a:r>
              <a:rPr lang="en-US" dirty="0"/>
              <a:t>Changes ripple everywhere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Composition is about reducing this friction.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460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921E6-990F-3418-1CCF-0F1C7C0C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F335C-98F7-A233-B3F9-B129C39A6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What Is Composition?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71156263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899A8-F5D7-3FC8-C4E3-1C1B403ED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 in UI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7D136-F0B8-16E7-3E2E-AA9D4908A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the UI into focused pieces</a:t>
            </a:r>
          </a:p>
          <a:p>
            <a:r>
              <a:rPr lang="en-US" dirty="0"/>
              <a:t>Each piece owns one responsibility</a:t>
            </a:r>
          </a:p>
          <a:p>
            <a:r>
              <a:rPr lang="en-US" dirty="0"/>
              <a:t>Build the page by assembling components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CA" dirty="0"/>
              <a:t>No inheritance chains. No giant base classes.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37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63FF2-718A-9065-98FF-79B579E0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DA39A-7D80-55AD-196A-84FB7A06F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Starting Point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97644104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322B3-1CE3-1E1B-90DB-A3F8D34D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Plain HTML first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3557C-A9AB-DCBE-122B-7D3F4D146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We begin with:</a:t>
            </a:r>
            <a:br>
              <a:rPr lang="en-CA" dirty="0"/>
            </a:br>
            <a:endParaRPr lang="en-CA" dirty="0"/>
          </a:p>
          <a:p>
            <a:r>
              <a:rPr lang="en-CA" dirty="0"/>
              <a:t>A single HTML document</a:t>
            </a:r>
          </a:p>
          <a:p>
            <a:r>
              <a:rPr lang="en-CA" dirty="0"/>
              <a:t>Clear visual sections</a:t>
            </a:r>
          </a:p>
          <a:p>
            <a:r>
              <a:rPr lang="en-CA" dirty="0"/>
              <a:t>No components yet</a:t>
            </a:r>
            <a:br>
              <a:rPr lang="en-CA" dirty="0"/>
            </a:br>
            <a:endParaRPr lang="en-CA" dirty="0"/>
          </a:p>
          <a:p>
            <a:pPr marL="0" indent="0">
              <a:buNone/>
            </a:pPr>
            <a:r>
              <a:rPr lang="en-CA" dirty="0"/>
              <a:t>This makes boundaries visible before abstraction.</a:t>
            </a:r>
          </a:p>
        </p:txBody>
      </p:sp>
    </p:spTree>
    <p:extLst>
      <p:ext uri="{BB962C8B-B14F-4D97-AF65-F5344CB8AC3E}">
        <p14:creationId xmlns:p14="http://schemas.microsoft.com/office/powerpoint/2010/main" val="61588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969E2-2604-57B7-BA36-ABE43CCA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BCA8E-683C-3712-D44B-33515BC6E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Extracting Components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568515927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F1CE5-C4AC-4AAD-1BE2-61F7590D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regions to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E5B33-C6D8-B4FA-51B9-2D89C29F4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Examples from today’s demo:</a:t>
            </a:r>
          </a:p>
          <a:p>
            <a:endParaRPr lang="en-US" dirty="0"/>
          </a:p>
          <a:p>
            <a:r>
              <a:rPr lang="en-US" dirty="0"/>
              <a:t>Header</a:t>
            </a:r>
          </a:p>
          <a:p>
            <a:r>
              <a:rPr lang="en-US" dirty="0"/>
              <a:t>Filters</a:t>
            </a:r>
          </a:p>
          <a:p>
            <a:r>
              <a:rPr lang="en-US" dirty="0"/>
              <a:t>Results</a:t>
            </a:r>
          </a:p>
          <a:p>
            <a:r>
              <a:rPr lang="en-US" dirty="0"/>
              <a:t>Details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Each region becomes a custom element.</a:t>
            </a:r>
          </a:p>
        </p:txBody>
      </p:sp>
    </p:spTree>
    <p:extLst>
      <p:ext uri="{BB962C8B-B14F-4D97-AF65-F5344CB8AC3E}">
        <p14:creationId xmlns:p14="http://schemas.microsoft.com/office/powerpoint/2010/main" val="1122787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5F1E5-1607-A824-F660-2CD5DA730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78AAB-21B8-E6BD-1184-D2794E8B7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The Composition Moment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05930517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9B85D-791E-B4F1-B2B4-1400746FA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the key shift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8D207-57F3-5E68-A5E7-61A938A17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Before:</a:t>
            </a:r>
          </a:p>
          <a:p>
            <a:r>
              <a:rPr lang="en-US" dirty="0"/>
              <a:t>One large HTML file</a:t>
            </a:r>
          </a:p>
          <a:p>
            <a:r>
              <a:rPr lang="en-US" dirty="0"/>
              <a:t>UI details everywhere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After: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lang="en-US" dirty="0"/>
              <a:t> mostly contains custom tags</a:t>
            </a:r>
          </a:p>
          <a:p>
            <a:r>
              <a:rPr lang="en-US" dirty="0"/>
              <a:t>Components own markup and logic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 page now describes </a:t>
            </a:r>
            <a:r>
              <a:rPr lang="en-US" i="1" dirty="0"/>
              <a:t>assembly</a:t>
            </a:r>
            <a:r>
              <a:rPr lang="en-US" dirty="0"/>
              <a:t>, not </a:t>
            </a:r>
            <a:r>
              <a:rPr lang="en-US" dirty="0" err="1"/>
              <a:t>behaviour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95932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C04F-9E5A-DCCA-B0D2-8FC9A17A1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AA20C-BBB4-84CC-E66F-C3E73C92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Why This Matters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548482206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E42D3D-5F66-7960-FC00-2BCD6AE1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composition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4C2FF-D3AC-F5EF-1BEC-EAA9A6551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Clearer structure</a:t>
            </a:r>
          </a:p>
          <a:p>
            <a:r>
              <a:rPr lang="en-US" dirty="0"/>
              <a:t>Easier maintenance</a:t>
            </a:r>
          </a:p>
          <a:p>
            <a:r>
              <a:rPr lang="en-US" dirty="0"/>
              <a:t>Better reuse</a:t>
            </a:r>
          </a:p>
          <a:p>
            <a:r>
              <a:rPr lang="en-US" dirty="0"/>
              <a:t>Scales to larger apps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same idea appears in React, Vue, and other frameworks.</a:t>
            </a:r>
          </a:p>
        </p:txBody>
      </p:sp>
    </p:spTree>
    <p:extLst>
      <p:ext uri="{BB962C8B-B14F-4D97-AF65-F5344CB8AC3E}">
        <p14:creationId xmlns:p14="http://schemas.microsoft.com/office/powerpoint/2010/main" val="3570535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A679-9833-A5D2-7999-7C0AAF4F9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F745F-9D52-D057-108B-CD4040DDD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Design Still Matters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7201343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EAB5-AD0B-47D5-8ABD-6E22288CC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follow user intent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7090F-29AE-0CED-54CE-83C9307F6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Controls should live near what they affect</a:t>
            </a:r>
          </a:p>
          <a:p>
            <a:r>
              <a:rPr lang="en-CA" dirty="0"/>
              <a:t>Boundaries are design decisions</a:t>
            </a:r>
          </a:p>
          <a:p>
            <a:r>
              <a:rPr lang="en-CA" dirty="0"/>
              <a:t>Architecture serves usability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Good composition starts with good UX.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206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33ECB-5EB9-2FC2-2F39-52ABEAAC5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B7E0D-840C-775F-93BE-7A74C8415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What We Are </a:t>
            </a:r>
            <a:r>
              <a:rPr lang="en-CA" b="1" i="1" dirty="0"/>
              <a:t>Not</a:t>
            </a:r>
            <a:r>
              <a:rPr lang="en-CA" b="1" dirty="0"/>
              <a:t> Doing Yet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86525160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9779A-059B-E9F6-FD45-DFD31A313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Deliberate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F3D6D-3627-DEA2-D72E-47C7CC6B4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No complex state management</a:t>
            </a:r>
          </a:p>
          <a:p>
            <a:r>
              <a:rPr lang="en-CA" dirty="0"/>
              <a:t>No heavy inter-component communication</a:t>
            </a:r>
          </a:p>
          <a:p>
            <a:r>
              <a:rPr lang="en-CA" dirty="0"/>
              <a:t>No frameworks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Today is about structure first.</a:t>
            </a:r>
          </a:p>
        </p:txBody>
      </p:sp>
    </p:spTree>
    <p:extLst>
      <p:ext uri="{BB962C8B-B14F-4D97-AF65-F5344CB8AC3E}">
        <p14:creationId xmlns:p14="http://schemas.microsoft.com/office/powerpoint/2010/main" val="2347531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9E497-0B96-A988-B0F7-8671A8753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D4F01-BCF7-C81D-4DF6-ED373D11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Hands-on Practice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A23C2-1004-2B1E-AEF1-B53F9E21E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Exercise: Refactor an existing HTML document into components</a:t>
            </a:r>
          </a:p>
          <a:p>
            <a:pPr marL="0" indent="0">
              <a:buNone/>
            </a:pPr>
            <a:r>
              <a:rPr lang="en-CA" b="1" dirty="0"/>
              <a:t>Objective:</a:t>
            </a:r>
            <a:r>
              <a:rPr lang="en-CA" dirty="0"/>
              <a:t> Identify and create well-defined web components.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Obtain the exercise starter files</a:t>
            </a:r>
          </a:p>
          <a:p>
            <a:pPr marL="971527" lvl="1" indent="-514350">
              <a:buFont typeface="+mj-lt"/>
              <a:buAutoNum type="arabicPeriod"/>
            </a:pPr>
            <a:r>
              <a:rPr lang="en-CA" dirty="0"/>
              <a:t>Complete the walkthrough with the instructor.</a:t>
            </a:r>
          </a:p>
          <a:p>
            <a:pPr marL="971527" lvl="1" indent="-514350">
              <a:buFont typeface="+mj-lt"/>
              <a:buAutoNum type="arabicPeriod"/>
            </a:pPr>
            <a:r>
              <a:rPr lang="en-CA" dirty="0"/>
              <a:t>Extract at least three components.</a:t>
            </a:r>
          </a:p>
          <a:p>
            <a:pPr marL="971527" lvl="1" indent="-514350">
              <a:buFont typeface="+mj-lt"/>
              <a:buAutoNum type="arabicPeriod"/>
            </a:pPr>
            <a:r>
              <a:rPr lang="en-CA" dirty="0"/>
              <a:t>Reassemble the page using custom elements.</a:t>
            </a:r>
          </a:p>
          <a:p>
            <a:pPr marL="971527" lvl="1" indent="-514350">
              <a:buFont typeface="+mj-lt"/>
              <a:buAutoNum type="arabicPeriod"/>
            </a:pPr>
            <a:r>
              <a:rPr lang="en-CA" dirty="0"/>
              <a:t>Ask questions if you are unsure of what to do or how the code works.</a:t>
            </a:r>
          </a:p>
          <a:p>
            <a:pPr marL="971527" lvl="1" indent="-514350">
              <a:buFont typeface="+mj-lt"/>
              <a:buAutoNum type="arabicPeriod"/>
            </a:pPr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8885256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EF19-97C3-110D-D413-DAD88ACCB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A88-3511-B674-6008-7EE2DAA05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CA" b="1" dirty="0"/>
              <a:t>Reflection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20972481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231CB-5565-8864-278C-73E1E74F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5ABC-A6DF-353E-7853-938CD2907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23BE1-7471-6164-5950-27494B397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What became easier after refactoring?</a:t>
            </a:r>
          </a:p>
          <a:p>
            <a:r>
              <a:rPr lang="en-CA" dirty="0"/>
              <a:t>What became harder?</a:t>
            </a:r>
          </a:p>
          <a:p>
            <a:r>
              <a:rPr lang="en-CA" dirty="0"/>
              <a:t>Where did composition help most?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There are no perfect answers.</a:t>
            </a:r>
          </a:p>
        </p:txBody>
      </p:sp>
    </p:spTree>
    <p:extLst>
      <p:ext uri="{BB962C8B-B14F-4D97-AF65-F5344CB8AC3E}">
        <p14:creationId xmlns:p14="http://schemas.microsoft.com/office/powerpoint/2010/main" val="33714254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7F87A-EC3B-6F87-073F-5EA32E94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FA4A7-5289-6F66-D4CE-FCD9F7DE8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lesson, we covered the following: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Describe the core features of Web Components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Explain composition as a UI design principle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Refactor a monolithic HTML page into multiple components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Evaluate when composition improves maintainability</a:t>
            </a:r>
          </a:p>
          <a:p>
            <a:pPr marL="514373" indent="-514350"/>
            <a:r>
              <a:rPr lang="en-CA" dirty="0"/>
              <a:t>Complete lesson 2 checklist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7582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C17D3-7614-08E1-2AAC-01DF58360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3BE39-AE9E-C416-EC64-744B7883B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“One benefit of composition is ___.”</a:t>
            </a:r>
          </a:p>
          <a:p>
            <a:r>
              <a:rPr lang="en-US" dirty="0"/>
              <a:t>“One </a:t>
            </a:r>
            <a:r>
              <a:rPr lang="en-CA" dirty="0"/>
              <a:t>situation where composition might add complexity</a:t>
            </a:r>
          </a:p>
          <a:p>
            <a:r>
              <a:rPr lang="en-US" dirty="0"/>
              <a:t> is ___.”</a:t>
            </a:r>
          </a:p>
        </p:txBody>
      </p:sp>
    </p:spTree>
    <p:extLst>
      <p:ext uri="{BB962C8B-B14F-4D97-AF65-F5344CB8AC3E}">
        <p14:creationId xmlns:p14="http://schemas.microsoft.com/office/powerpoint/2010/main" val="1481093830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Day N - PPT 1">
  <a:themeElements>
    <a:clrScheme name="NAIT 2020">
      <a:dk1>
        <a:sysClr val="windowText" lastClr="000000"/>
      </a:dk1>
      <a:lt1>
        <a:sysClr val="window" lastClr="FFFFFF"/>
      </a:lt1>
      <a:dk2>
        <a:srgbClr val="63666A"/>
      </a:dk2>
      <a:lt2>
        <a:srgbClr val="F2F2F2"/>
      </a:lt2>
      <a:accent1>
        <a:srgbClr val="002D74"/>
      </a:accent1>
      <a:accent2>
        <a:srgbClr val="00A0DF"/>
      </a:accent2>
      <a:accent3>
        <a:srgbClr val="005CB9"/>
      </a:accent3>
      <a:accent4>
        <a:srgbClr val="2AD2C9"/>
      </a:accent4>
      <a:accent5>
        <a:srgbClr val="97D700"/>
      </a:accent5>
      <a:accent6>
        <a:srgbClr val="F2A900"/>
      </a:accent6>
      <a:hlink>
        <a:srgbClr val="00AEFF"/>
      </a:hlink>
      <a:folHlink>
        <a:srgbClr val="981D9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IT PPT TEMPLATE" id="{48C832B7-36DA-FF42-A033-DC69DF6E754B}" vid="{12E7E523-AC5B-2043-BD48-32C2D6EE822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Day N - PPT 1</Template>
  <TotalTime>16446</TotalTime>
  <Words>481</Words>
  <Application>Microsoft Macintosh PowerPoint</Application>
  <PresentationFormat>Widescreen</PresentationFormat>
  <Paragraphs>126</Paragraphs>
  <Slides>26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Arial</vt:lpstr>
      <vt:lpstr>Consolas</vt:lpstr>
      <vt:lpstr>Day N - PPT 1</vt:lpstr>
      <vt:lpstr>SDEV2150</vt:lpstr>
      <vt:lpstr>Lesson Objectives</vt:lpstr>
      <vt:lpstr>Agenda</vt:lpstr>
      <vt:lpstr>Review: Web Components</vt:lpstr>
      <vt:lpstr>What you already know</vt:lpstr>
      <vt:lpstr>Why Composition?</vt:lpstr>
      <vt:lpstr>The problem with large components</vt:lpstr>
      <vt:lpstr>What Is Composition?</vt:lpstr>
      <vt:lpstr>Composition in UI design</vt:lpstr>
      <vt:lpstr>Starting Point</vt:lpstr>
      <vt:lpstr>Plain HTML first</vt:lpstr>
      <vt:lpstr>Extracting Components</vt:lpstr>
      <vt:lpstr>From regions to components</vt:lpstr>
      <vt:lpstr>The Composition Moment</vt:lpstr>
      <vt:lpstr>This is the key shift</vt:lpstr>
      <vt:lpstr>Why This Matters</vt:lpstr>
      <vt:lpstr>Benefits of composition</vt:lpstr>
      <vt:lpstr>Design Still Matters</vt:lpstr>
      <vt:lpstr>Components follow user intent</vt:lpstr>
      <vt:lpstr>What We Are Not Doing Yet</vt:lpstr>
      <vt:lpstr>Deliberate scope</vt:lpstr>
      <vt:lpstr>Hands-on Practice</vt:lpstr>
      <vt:lpstr>Reflection</vt:lpstr>
      <vt:lpstr>Think about</vt:lpstr>
      <vt:lpstr>Lesson Summary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Humphrey</dc:creator>
  <cp:lastModifiedBy>Nathan Humphrey</cp:lastModifiedBy>
  <cp:revision>44</cp:revision>
  <dcterms:created xsi:type="dcterms:W3CDTF">2025-05-09T22:20:28Z</dcterms:created>
  <dcterms:modified xsi:type="dcterms:W3CDTF">2026-01-09T17:13:20Z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2025-05-09T22:21:39Z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ea09c963-5839-457c-a351-7e2868c7baef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