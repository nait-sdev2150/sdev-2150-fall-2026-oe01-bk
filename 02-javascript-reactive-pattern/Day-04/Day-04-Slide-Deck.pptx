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82" r:id="rId4"/>
    <p:sldId id="306" r:id="rId5"/>
    <p:sldId id="299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11" r:id="rId15"/>
    <p:sldId id="305" r:id="rId16"/>
    <p:sldId id="314" r:id="rId17"/>
    <p:sldId id="312" r:id="rId18"/>
    <p:sldId id="319" r:id="rId19"/>
    <p:sldId id="315" r:id="rId20"/>
    <p:sldId id="313" r:id="rId21"/>
    <p:sldId id="295" r:id="rId22"/>
    <p:sldId id="317" r:id="rId23"/>
    <p:sldId id="316" r:id="rId24"/>
    <p:sldId id="318" r:id="rId25"/>
    <p:sldId id="258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9"/>
  </p:normalViewPr>
  <p:slideViewPr>
    <p:cSldViewPr snapToGrid="0">
      <p:cViewPr varScale="1">
        <p:scale>
          <a:sx n="60" d="100"/>
          <a:sy n="60" d="100"/>
        </p:scale>
        <p:origin x="494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702D-2AC0-43E1-F2F6-F35A3352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19BB8-2C5F-4602-ABAE-47306CFBF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294F-CB41-A409-D991-4BEBAB7B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5990E-D11C-D407-685B-E43AE8CD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8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04: 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custom events enable reactive UI updates</a:t>
            </a:r>
          </a:p>
          <a:p>
            <a:pPr marL="971550" lvl="1" indent="-514350"/>
            <a:r>
              <a:rPr lang="en-US" dirty="0"/>
              <a:t>Describe how filter state can drive rendered results</a:t>
            </a:r>
          </a:p>
          <a:p>
            <a:pPr marL="971550" lvl="1" indent="-514350"/>
            <a:r>
              <a:rPr lang="en-US" dirty="0"/>
              <a:t>Implement event-driven communication between multiple components</a:t>
            </a:r>
          </a:p>
          <a:p>
            <a:pPr marL="971550" lvl="1" indent="-514350"/>
            <a:r>
              <a:rPr lang="en-US" dirty="0"/>
              <a:t>Trace data flow through a reactive, multi-component UI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reactive patterns from Lesson 03</a:t>
            </a:r>
          </a:p>
          <a:p>
            <a:r>
              <a:rPr lang="en-US" dirty="0"/>
              <a:t>Introduce filter-driven reactivity</a:t>
            </a:r>
          </a:p>
          <a:p>
            <a:r>
              <a:rPr lang="en-US" dirty="0"/>
              <a:t>Instructor demo</a:t>
            </a:r>
          </a:p>
          <a:p>
            <a:r>
              <a:rPr lang="en-US" dirty="0"/>
              <a:t>Hands-on practice</a:t>
            </a:r>
          </a:p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Review: Where We Are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on Lesson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03 introduced event-driven selection</a:t>
            </a:r>
          </a:p>
          <a:p>
            <a:r>
              <a:rPr lang="en-US" dirty="0"/>
              <a:t>One component reacted to another</a:t>
            </a:r>
          </a:p>
          <a:p>
            <a:r>
              <a:rPr lang="en-US" dirty="0"/>
              <a:t>State changes triggered re-renders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Lesson 04 extends the same idea to shared state.</a:t>
            </a:r>
          </a:p>
        </p:txBody>
      </p:sp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New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one change affects many things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change filters</a:t>
            </a:r>
          </a:p>
          <a:p>
            <a:r>
              <a:rPr lang="en-US" dirty="0"/>
              <a:t>Results must update</a:t>
            </a:r>
          </a:p>
          <a:p>
            <a:r>
              <a:rPr lang="en-US" dirty="0"/>
              <a:t>Selection must still work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need components to react to changing state, not just clicks.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state as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describe </a:t>
            </a:r>
            <a:r>
              <a:rPr lang="en-US" b="1" dirty="0"/>
              <a:t>what the user wants</a:t>
            </a:r>
            <a:endParaRPr lang="en-US" dirty="0"/>
          </a:p>
          <a:p>
            <a:r>
              <a:rPr lang="en-US" dirty="0"/>
              <a:t>Results derive </a:t>
            </a:r>
            <a:r>
              <a:rPr lang="en-US" b="1" dirty="0"/>
              <a:t>what should be shown</a:t>
            </a:r>
            <a:endParaRPr lang="en-US" dirty="0"/>
          </a:p>
          <a:p>
            <a:r>
              <a:rPr lang="en-US" dirty="0"/>
              <a:t>UI updates when state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This is still the same reactive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Reactive Loop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pattern, repeated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1. User submits filters</a:t>
            </a:r>
          </a:p>
          <a:p>
            <a:pPr marL="0" indent="0">
              <a:buNone/>
            </a:pPr>
            <a:r>
              <a:rPr lang="en-CA" dirty="0"/>
              <a:t>2. Filters emit state</a:t>
            </a:r>
          </a:p>
          <a:p>
            <a:pPr marL="0" indent="0">
              <a:buNone/>
            </a:pPr>
            <a:r>
              <a:rPr lang="en-CA" dirty="0"/>
              <a:t>3. Results update internal state</a:t>
            </a:r>
          </a:p>
          <a:p>
            <a:pPr marL="0" indent="0">
              <a:buNone/>
            </a:pPr>
            <a:r>
              <a:rPr lang="en-CA" dirty="0"/>
              <a:t>4. Results re-render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No direct DOM manipulation across components.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 as the Glue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events still work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Filters do not know about results</a:t>
            </a:r>
          </a:p>
          <a:p>
            <a:r>
              <a:rPr lang="en-US" dirty="0"/>
              <a:t>Results do not know about filters</a:t>
            </a:r>
          </a:p>
          <a:p>
            <a:r>
              <a:rPr lang="en-US" dirty="0"/>
              <a:t>Events describe </a:t>
            </a:r>
            <a:r>
              <a:rPr lang="en-US" b="1" dirty="0"/>
              <a:t>what changed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Loose coupling keeps components reusable.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 Contract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explicit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event contract defines: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Who emits the event</a:t>
            </a:r>
          </a:p>
          <a:p>
            <a:r>
              <a:rPr lang="en-US" dirty="0"/>
              <a:t>What it is called</a:t>
            </a:r>
          </a:p>
          <a:p>
            <a:r>
              <a:rPr lang="en-US" dirty="0"/>
              <a:t>What data it carries</a:t>
            </a:r>
          </a:p>
          <a:p>
            <a:r>
              <a:rPr lang="en-US" dirty="0"/>
              <a:t>Who reacts to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event-driven systems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Shadow DOM Reminder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and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1850" cy="3070225"/>
          </a:xfrm>
        </p:spPr>
        <p:txBody>
          <a:bodyPr>
            <a:normAutofit/>
          </a:bodyPr>
          <a:lstStyle/>
          <a:p>
            <a:r>
              <a:rPr lang="en-US" sz="2000" dirty="0"/>
              <a:t>Components use Shadow DOM</a:t>
            </a:r>
          </a:p>
          <a:p>
            <a:r>
              <a:rPr lang="en-US" sz="2000" dirty="0"/>
              <a:t>Styles are scoped</a:t>
            </a:r>
          </a:p>
          <a:p>
            <a:r>
              <a:rPr lang="en-US" sz="2000" dirty="0"/>
              <a:t>Events still travel </a:t>
            </a:r>
            <a:r>
              <a:rPr lang="en-US" sz="2000" dirty="0" err="1"/>
              <a:t>upward:Example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Shadow DOM changes styling, not data flow.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FE6E-B14F-85E1-3F0A-2118C4A9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Custom Events and Bubbling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259C7-5868-6480-7287-7F0AA0FD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create a </a:t>
            </a:r>
            <a:r>
              <a:rPr lang="en-US" b="1" dirty="0"/>
              <a:t>custom event</a:t>
            </a:r>
            <a:r>
              <a:rPr lang="en-US" dirty="0"/>
              <a:t>, you can make it bubble </a:t>
            </a:r>
            <a:r>
              <a:rPr lang="en-US" b="1" dirty="0"/>
              <a:t>just like a normal DOM event</a:t>
            </a:r>
            <a:r>
              <a:rPr lang="en-US" dirty="0"/>
              <a:t>: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bubbles: </a:t>
            </a:r>
            <a:r>
              <a:rPr lang="en-US" sz="2000" dirty="0"/>
              <a:t>true → the event can be caught by parent elements. Lets </a:t>
            </a:r>
            <a:r>
              <a:rPr lang="en-US" sz="2000" b="1" dirty="0"/>
              <a:t>parent components listen to child events</a:t>
            </a:r>
            <a:r>
              <a:rPr lang="en-US" sz="2000" dirty="0"/>
              <a:t> without the child explicitly calling them.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composed: </a:t>
            </a:r>
            <a:r>
              <a:rPr lang="en-US" sz="2000" dirty="0"/>
              <a:t>true →Allows the event to pass out of the shadow DOM if needed.</a:t>
            </a:r>
          </a:p>
          <a:p>
            <a:r>
              <a:rPr lang="en-US" sz="2000" dirty="0"/>
              <a:t>bubbles: false → only the element itself can catch it.</a:t>
            </a:r>
          </a:p>
          <a:p>
            <a:r>
              <a:rPr lang="en-US" sz="2000" dirty="0"/>
              <a:t>Default DOM events (like </a:t>
            </a:r>
            <a:r>
              <a:rPr lang="en-US" dirty="0"/>
              <a:t>click</a:t>
            </a:r>
            <a:r>
              <a:rPr lang="en-US" sz="2000" dirty="0"/>
              <a:t>) bubble.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636619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Practicing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Shared state drives UI</a:t>
            </a:r>
          </a:p>
          <a:p>
            <a:r>
              <a:rPr lang="en-CA" dirty="0"/>
              <a:t>Components own their own data</a:t>
            </a:r>
          </a:p>
          <a:p>
            <a:r>
              <a:rPr lang="en-CA" dirty="0"/>
              <a:t>Rendering is a result of state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is the foundation of modern frameworks.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Create an app that has multiple </a:t>
            </a:r>
            <a:r>
              <a:rPr lang="en-CA" dirty="0" err="1"/>
              <a:t>componente</a:t>
            </a:r>
            <a:r>
              <a:rPr lang="en-CA" dirty="0"/>
              <a:t> respond to a single event.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state-driven reactive events.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Dispatch filter state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&lt;resource-filters&gt;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&lt;resource-results&gt;</a:t>
            </a:r>
            <a:r>
              <a:rPr lang="en-CA" dirty="0"/>
              <a:t> reactively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Keep selection behaviour working</a:t>
            </a:r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Stretch Thinking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could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Result count in the header</a:t>
            </a:r>
          </a:p>
          <a:p>
            <a:r>
              <a:rPr lang="en-CA" dirty="0"/>
              <a:t>Empty state messages</a:t>
            </a:r>
          </a:p>
          <a:p>
            <a:r>
              <a:rPr lang="en-CA" dirty="0"/>
              <a:t>Analytics or logging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One event can have many listeners.</a:t>
            </a:r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EF19-97C3-110D-D413-DAD88ACC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A88-3511-B674-6008-7EE2DAA0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Reflection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0972481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custom events enable reactive UI updates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filter state can drive rendered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event-driven communication between multiple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Trace data flow through a reactive, multi-component UI</a:t>
            </a:r>
          </a:p>
          <a:p>
            <a:pPr marL="514373" indent="-514350"/>
            <a:r>
              <a:rPr lang="en-CA" dirty="0"/>
              <a:t>Complete lesson 4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makes filter-driven updates reactive?”</a:t>
            </a:r>
          </a:p>
          <a:p>
            <a:r>
              <a:rPr lang="en-US"/>
              <a:t>“Why use events instead of direct method calls?”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19120</TotalTime>
  <Words>549</Words>
  <Application>Microsoft Office PowerPoint</Application>
  <PresentationFormat>Widescreen</PresentationFormat>
  <Paragraphs>117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Review: Where We Are</vt:lpstr>
      <vt:lpstr>Building on Lesson 03</vt:lpstr>
      <vt:lpstr>The New Problem</vt:lpstr>
      <vt:lpstr>When one change affects many things </vt:lpstr>
      <vt:lpstr>Reactive Filtering</vt:lpstr>
      <vt:lpstr>Filter state as input</vt:lpstr>
      <vt:lpstr>The Reactive Loop</vt:lpstr>
      <vt:lpstr>One pattern, repeated</vt:lpstr>
      <vt:lpstr>Events as the Glue</vt:lpstr>
      <vt:lpstr>Why events still work here</vt:lpstr>
      <vt:lpstr>Event Contract</vt:lpstr>
      <vt:lpstr>Being explicit matters</vt:lpstr>
      <vt:lpstr>Shadow DOM Reminder</vt:lpstr>
      <vt:lpstr>Encapsulation and communication</vt:lpstr>
      <vt:lpstr>Custom Events and Bubbling</vt:lpstr>
      <vt:lpstr>What We Are Practicing</vt:lpstr>
      <vt:lpstr>Key ideas today</vt:lpstr>
      <vt:lpstr>Hands-on Practice</vt:lpstr>
      <vt:lpstr>Stretch Thinking</vt:lpstr>
      <vt:lpstr>What else could react?</vt:lpstr>
      <vt:lpstr>Reflection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Baljeet Kaur</cp:lastModifiedBy>
  <cp:revision>58</cp:revision>
  <dcterms:created xsi:type="dcterms:W3CDTF">2025-05-09T22:20:28Z</dcterms:created>
  <dcterms:modified xsi:type="dcterms:W3CDTF">2026-01-21T23:05:55Z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