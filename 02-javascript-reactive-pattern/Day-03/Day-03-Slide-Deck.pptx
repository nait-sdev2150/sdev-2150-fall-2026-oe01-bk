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23" r:id="rId15"/>
    <p:sldId id="324" r:id="rId16"/>
    <p:sldId id="325" r:id="rId17"/>
    <p:sldId id="326" r:id="rId18"/>
    <p:sldId id="331" r:id="rId19"/>
    <p:sldId id="321" r:id="rId20"/>
    <p:sldId id="327" r:id="rId21"/>
    <p:sldId id="328" r:id="rId22"/>
    <p:sldId id="329" r:id="rId23"/>
    <p:sldId id="330" r:id="rId24"/>
    <p:sldId id="311" r:id="rId25"/>
    <p:sldId id="305" r:id="rId26"/>
    <p:sldId id="314" r:id="rId27"/>
    <p:sldId id="312" r:id="rId28"/>
    <p:sldId id="295" r:id="rId29"/>
    <p:sldId id="258" r:id="rId30"/>
    <p:sldId id="28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59"/>
    <p:restoredTop sz="94679"/>
  </p:normalViewPr>
  <p:slideViewPr>
    <p:cSldViewPr snapToGrid="0">
      <p:cViewPr varScale="1">
        <p:scale>
          <a:sx n="121" d="100"/>
          <a:sy n="121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6454-6061-F357-9A79-A235CBCA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C7E6-AE60-BAF4-D218-0D9624C80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2AE27-F403-D77B-1CE4-1922ABECF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BA9CF-8B6E-BF81-CF20-16148B84F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615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2B85-E456-CBE6-7C55-660A2174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34AFA-556F-F79B-CB7A-6940FF79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AB81-60F1-D48B-534D-04B37325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83899-E4DD-3133-BD8E-89E713ED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594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03: </a:t>
            </a:r>
            <a:r>
              <a:rPr lang="en-CA" dirty="0"/>
              <a:t>Reactive Patterns and Component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what makes a UI interaction reactive</a:t>
            </a:r>
          </a:p>
          <a:p>
            <a:pPr marL="971550" lvl="1" indent="-514350"/>
            <a:r>
              <a:rPr lang="en-US" dirty="0"/>
              <a:t>Describe how custom events enable component communication</a:t>
            </a:r>
          </a:p>
          <a:p>
            <a:pPr marL="971550" lvl="1" indent="-514350"/>
            <a:r>
              <a:rPr lang="en-US" dirty="0"/>
              <a:t>Implement a simple reactive pattern using Web Components</a:t>
            </a:r>
          </a:p>
          <a:p>
            <a:pPr marL="971550" lvl="1" indent="-514350"/>
            <a:r>
              <a:rPr lang="en-US" dirty="0"/>
              <a:t>Trace how data flows through an event-driven UI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composition from Lesson 02  </a:t>
            </a:r>
          </a:p>
          <a:p>
            <a:r>
              <a:rPr lang="en-US" dirty="0"/>
              <a:t>Introduce reactive thinking  </a:t>
            </a:r>
          </a:p>
          <a:p>
            <a:r>
              <a:rPr lang="en-US" dirty="0"/>
              <a:t>Events and component communication  </a:t>
            </a:r>
          </a:p>
          <a:p>
            <a:r>
              <a:rPr lang="en-US" dirty="0"/>
              <a:t>Instructor demo: selecting a resource  </a:t>
            </a:r>
          </a:p>
          <a:p>
            <a:r>
              <a:rPr lang="en-US" dirty="0"/>
              <a:t>Hands-on practice  </a:t>
            </a:r>
          </a:p>
          <a:p>
            <a:r>
              <a:rPr lang="en-US" dirty="0"/>
              <a:t>Reflection and preview of Lesson 04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Where We Are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Building on Lesson 02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02 focused on </a:t>
            </a:r>
            <a:r>
              <a:rPr lang="en-US" b="1" dirty="0"/>
              <a:t>composition</a:t>
            </a:r>
          </a:p>
          <a:p>
            <a:r>
              <a:rPr lang="en-US" dirty="0"/>
              <a:t>We assembled the UI from multiple components</a:t>
            </a:r>
          </a:p>
          <a:p>
            <a:r>
              <a:rPr lang="en-US" dirty="0"/>
              <a:t>Components were mostly isolated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Now we need those components to </a:t>
            </a:r>
            <a:r>
              <a:rPr lang="en-CA" b="1" dirty="0"/>
              <a:t>work together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components aren't enough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interact with the UI</a:t>
            </a:r>
          </a:p>
          <a:p>
            <a:r>
              <a:rPr lang="en-US" dirty="0"/>
              <a:t>Data changes over time</a:t>
            </a:r>
          </a:p>
          <a:p>
            <a:r>
              <a:rPr lang="en-US" dirty="0"/>
              <a:t>One component's action affects another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 need a way for components to react.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Reactive Thinking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reactive mental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Something happens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An event is emitted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Other code reacts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UI updates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CA" dirty="0"/>
              <a:t>This loop drives modern front-end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 as Signals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are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They describe </a:t>
            </a:r>
            <a:r>
              <a:rPr lang="en-CA" b="1" dirty="0"/>
              <a:t>what</a:t>
            </a:r>
            <a:r>
              <a:rPr lang="en-CA" dirty="0"/>
              <a:t> happened</a:t>
            </a:r>
          </a:p>
          <a:p>
            <a:r>
              <a:rPr lang="en-CA" dirty="0"/>
              <a:t>They do not dictate </a:t>
            </a:r>
            <a:r>
              <a:rPr lang="en-CA" b="1" dirty="0"/>
              <a:t>what should happen</a:t>
            </a:r>
            <a:endParaRPr lang="en-CA" dirty="0"/>
          </a:p>
          <a:p>
            <a:r>
              <a:rPr lang="en-CA" dirty="0"/>
              <a:t>Any interested listener can react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This keeps components loosely coupled.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Custom Events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built-in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click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change</a:t>
            </a:r>
            <a:r>
              <a:rPr lang="en-US" dirty="0"/>
              <a:t> describe user actions</a:t>
            </a:r>
          </a:p>
          <a:p>
            <a:r>
              <a:rPr lang="en-US" dirty="0"/>
              <a:t>Custom events describe </a:t>
            </a:r>
            <a:r>
              <a:rPr lang="en-US" b="1" dirty="0"/>
              <a:t>application meaning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meanings:</a:t>
            </a:r>
          </a:p>
          <a:p>
            <a:r>
              <a:rPr lang="en-US" dirty="0"/>
              <a:t>"A resource was selected"</a:t>
            </a:r>
          </a:p>
          <a:p>
            <a:r>
              <a:rPr lang="en-US" dirty="0"/>
              <a:t>"Filters changed"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Today's Interaction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clicks a result item</a:t>
            </a:r>
          </a:p>
          <a:p>
            <a:r>
              <a:rPr lang="en-US" dirty="0"/>
              <a:t>Results component emits an event</a:t>
            </a:r>
          </a:p>
          <a:p>
            <a:r>
              <a:rPr lang="en-US" dirty="0"/>
              <a:t>Details component updates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Simple.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Event Contract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explicit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event contract defines:</a:t>
            </a:r>
          </a:p>
          <a:p>
            <a:endParaRPr lang="en-US" dirty="0"/>
          </a:p>
          <a:p>
            <a:r>
              <a:rPr lang="en-US" dirty="0"/>
              <a:t>Who emits the event</a:t>
            </a:r>
          </a:p>
          <a:p>
            <a:r>
              <a:rPr lang="en-US" dirty="0"/>
              <a:t>What it is called</a:t>
            </a:r>
          </a:p>
          <a:p>
            <a:r>
              <a:rPr lang="en-US" dirty="0"/>
              <a:t>What data it carries</a:t>
            </a:r>
          </a:p>
          <a:p>
            <a:r>
              <a:rPr lang="en-US" dirty="0"/>
              <a:t>Who reacts to it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prevents hidden dependencies.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Event: resource-selected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Contract summary</a:t>
            </a:r>
            <a:endParaRPr lang="en-CA" dirty="0"/>
          </a:p>
          <a:p>
            <a:r>
              <a:rPr lang="en-US" dirty="0"/>
              <a:t>Emitted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&lt;resource-results&gt;</a:t>
            </a:r>
          </a:p>
          <a:p>
            <a:r>
              <a:rPr lang="en-US" dirty="0"/>
              <a:t>Fired when a result is activated</a:t>
            </a:r>
          </a:p>
          <a:p>
            <a:r>
              <a:rPr lang="en-US" dirty="0"/>
              <a:t>Payload includes the selected resource</a:t>
            </a:r>
          </a:p>
          <a:p>
            <a:r>
              <a:rPr lang="en-US" dirty="0"/>
              <a:t>Event bubbles through the DOM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No direct component references required.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6299-C83A-18C8-8C77-B16B08A9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FROM EVENT TO REACTION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4A4164-85A3-F904-5987-FE720DB65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3665"/>
            <a:ext cx="10515600" cy="337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8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F10A-3413-5955-1DFF-FF78E5EA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C94C-2C89-8319-62B9-8E1CDD2A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Shadow DOM Reminder</a:t>
            </a:r>
          </a:p>
        </p:txBody>
      </p:sp>
    </p:spTree>
    <p:extLst>
      <p:ext uri="{BB962C8B-B14F-4D97-AF65-F5344CB8AC3E}">
        <p14:creationId xmlns:p14="http://schemas.microsoft.com/office/powerpoint/2010/main" val="219438028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A56-E69F-8A76-00BB-F016D8FD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5824-0EC3-3FC2-8C3C-D7CF81D1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are encapsulated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C56A-E6E1-1EF1-BC3B-7DD26C741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component uses Shadow DOM</a:t>
            </a:r>
          </a:p>
          <a:p>
            <a:r>
              <a:rPr lang="en-US" dirty="0"/>
              <a:t>Styles are included per component</a:t>
            </a:r>
          </a:p>
          <a:p>
            <a:r>
              <a:rPr lang="en-US" dirty="0"/>
              <a:t>Events still cross component boundaries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Shadow DOM changes </a:t>
            </a:r>
            <a:r>
              <a:rPr lang="en-US" b="1" dirty="0"/>
              <a:t>how</a:t>
            </a:r>
            <a:r>
              <a:rPr lang="en-US" dirty="0"/>
              <a:t> we style, not </a:t>
            </a:r>
            <a:r>
              <a:rPr lang="en-US" b="1" dirty="0"/>
              <a:t>how we communicate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180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DB56-A78F-4F5C-E4C8-B1B44447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FD2B-49AF-C334-ED2C-50BBE92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Where to Listen</a:t>
            </a:r>
          </a:p>
        </p:txBody>
      </p:sp>
    </p:spTree>
    <p:extLst>
      <p:ext uri="{BB962C8B-B14F-4D97-AF65-F5344CB8AC3E}">
        <p14:creationId xmlns:p14="http://schemas.microsoft.com/office/powerpoint/2010/main" val="600587390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DAA3-4126-717B-9F21-91CA02A8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348F-8787-6180-7CC4-D345E93C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7D24-CCAF-451A-D18F-D0D2830D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lesson:</a:t>
            </a:r>
          </a:p>
          <a:p>
            <a:endParaRPr lang="en-US" dirty="0"/>
          </a:p>
          <a:p>
            <a:r>
              <a:rPr lang="en-US" dirty="0"/>
              <a:t>Events are listened for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endParaRPr lang="en-US" dirty="0"/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r>
              <a:rPr lang="en-US" dirty="0"/>
              <a:t> acts as a simple coordinator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Later, this role can move into a parent component.</a:t>
            </a:r>
          </a:p>
        </p:txBody>
      </p:sp>
    </p:spTree>
    <p:extLst>
      <p:ext uri="{BB962C8B-B14F-4D97-AF65-F5344CB8AC3E}">
        <p14:creationId xmlns:p14="http://schemas.microsoft.com/office/powerpoint/2010/main" val="2135768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Reactive UI Update</a:t>
            </a:r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this reactive?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changes (selected resource)</a:t>
            </a:r>
          </a:p>
          <a:p>
            <a:r>
              <a:rPr lang="en-US" dirty="0"/>
              <a:t>Component state updates</a:t>
            </a:r>
          </a:p>
          <a:p>
            <a:r>
              <a:rPr lang="en-US" dirty="0"/>
              <a:t>UI re-renders automatically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The UI reflects current state.</a:t>
            </a:r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We Are </a:t>
            </a:r>
            <a:r>
              <a:rPr lang="en-CA" b="1" i="1" dirty="0"/>
              <a:t>Not</a:t>
            </a:r>
            <a:r>
              <a:rPr lang="en-CA" b="1" dirty="0"/>
              <a:t> Doing Yet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Intentional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global state management</a:t>
            </a:r>
          </a:p>
          <a:p>
            <a:r>
              <a:rPr lang="en-US" dirty="0"/>
              <a:t>No framework abstractions</a:t>
            </a:r>
          </a:p>
          <a:p>
            <a:r>
              <a:rPr lang="en-US" dirty="0"/>
              <a:t>No complex event graphs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We're building the mental model first.</a:t>
            </a:r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Update an existing component-based app to respond to user events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simple custom event handling for web components.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Render results from an array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Emit a custom event on selection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Update the details component reactively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what makes a UI interaction reactive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custom events enable component communication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a simple reactive pattern using Web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Trace how data flows through an event-driven UI</a:t>
            </a:r>
          </a:p>
          <a:p>
            <a:pPr marL="514373" indent="-514350"/>
            <a:r>
              <a:rPr lang="en-CA" dirty="0"/>
              <a:t>Complete lesson 3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makes this interaction reactive?”</a:t>
            </a:r>
          </a:p>
          <a:p>
            <a:r>
              <a:rPr lang="en-US" dirty="0"/>
              <a:t>“Why use a custom event instead of a direct method call?”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16475</TotalTime>
  <Words>571</Words>
  <Application>Microsoft Macintosh PowerPoint</Application>
  <PresentationFormat>Widescreen</PresentationFormat>
  <Paragraphs>139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Where We Are</vt:lpstr>
      <vt:lpstr>Building on Lesson 02</vt:lpstr>
      <vt:lpstr>The Problem</vt:lpstr>
      <vt:lpstr>Static components aren't enough</vt:lpstr>
      <vt:lpstr>Reactive Thinking</vt:lpstr>
      <vt:lpstr>The reactive mental model</vt:lpstr>
      <vt:lpstr>Events as Signals</vt:lpstr>
      <vt:lpstr>Events are messages</vt:lpstr>
      <vt:lpstr>Custom Events</vt:lpstr>
      <vt:lpstr>Beyond built-in events</vt:lpstr>
      <vt:lpstr>Today's Interaction</vt:lpstr>
      <vt:lpstr>Selecting a resource</vt:lpstr>
      <vt:lpstr>Event Contract</vt:lpstr>
      <vt:lpstr>Being explicit matters</vt:lpstr>
      <vt:lpstr>Event: resource-selected</vt:lpstr>
      <vt:lpstr>FROM EVENT TO REACTION</vt:lpstr>
      <vt:lpstr>Shadow DOM Reminder</vt:lpstr>
      <vt:lpstr>Components are encapsulated</vt:lpstr>
      <vt:lpstr>Where to Listen</vt:lpstr>
      <vt:lpstr>Coordinating components</vt:lpstr>
      <vt:lpstr>Reactive UI Update</vt:lpstr>
      <vt:lpstr>What makes this reactive?</vt:lpstr>
      <vt:lpstr>What We Are Not Doing Yet</vt:lpstr>
      <vt:lpstr>Intentional scope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62</cp:revision>
  <dcterms:created xsi:type="dcterms:W3CDTF">2025-05-09T22:20:28Z</dcterms:created>
  <dcterms:modified xsi:type="dcterms:W3CDTF">2026-01-14T15:05:02Z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