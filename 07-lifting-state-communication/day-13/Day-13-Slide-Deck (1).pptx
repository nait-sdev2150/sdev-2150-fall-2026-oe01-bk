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5"/>
  </p:notesMasterIdLst>
  <p:sldIdLst>
    <p:sldId id="256" r:id="rId2"/>
    <p:sldId id="257" r:id="rId3"/>
    <p:sldId id="282" r:id="rId4"/>
    <p:sldId id="306" r:id="rId5"/>
    <p:sldId id="322" r:id="rId6"/>
    <p:sldId id="307" r:id="rId7"/>
    <p:sldId id="303" r:id="rId8"/>
    <p:sldId id="343" r:id="rId9"/>
    <p:sldId id="342" r:id="rId10"/>
    <p:sldId id="334" r:id="rId11"/>
    <p:sldId id="335" r:id="rId12"/>
    <p:sldId id="336" r:id="rId13"/>
    <p:sldId id="337" r:id="rId14"/>
    <p:sldId id="354" r:id="rId15"/>
    <p:sldId id="338" r:id="rId16"/>
    <p:sldId id="339" r:id="rId17"/>
    <p:sldId id="340" r:id="rId18"/>
    <p:sldId id="341" r:id="rId19"/>
    <p:sldId id="344" r:id="rId20"/>
    <p:sldId id="345" r:id="rId21"/>
    <p:sldId id="350" r:id="rId22"/>
    <p:sldId id="351" r:id="rId23"/>
    <p:sldId id="355" r:id="rId24"/>
    <p:sldId id="356" r:id="rId25"/>
    <p:sldId id="357" r:id="rId26"/>
    <p:sldId id="358" r:id="rId27"/>
    <p:sldId id="295" r:id="rId28"/>
    <p:sldId id="346" r:id="rId29"/>
    <p:sldId id="347" r:id="rId30"/>
    <p:sldId id="352" r:id="rId31"/>
    <p:sldId id="353" r:id="rId32"/>
    <p:sldId id="258" r:id="rId33"/>
    <p:sldId id="281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/>
    <p:restoredTop sz="94679"/>
  </p:normalViewPr>
  <p:slideViewPr>
    <p:cSldViewPr snapToGrid="0">
      <p:cViewPr varScale="1">
        <p:scale>
          <a:sx n="121" d="100"/>
          <a:sy n="121" d="100"/>
        </p:scale>
        <p:origin x="5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411B5-A9B8-6D4E-A83B-91456309AD37}" type="datetimeFigureOut">
              <a:rPr lang="en-US" smtClean="0"/>
              <a:t>2/27/26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6114E8-53D3-EB43-8A56-360BB7DBB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18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BAB49-A5B2-6384-E3DF-547F4B224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33F74-9E95-3FF6-D454-C8FE8B02C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A9C78-3715-9929-CCA0-CC917FE0A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A795B-34AA-88EC-21E0-9B502A3D2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2019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C1B27-2AC3-687F-17B8-760C59F1F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33A79-D1B1-1F5C-EEF5-578504509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4A97B-D8F8-4C45-E58C-57115F947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15220-2AE2-A6FC-8F7F-808067A00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3574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C5F39-B702-5E3F-4599-66728A78D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EDF982-2DC4-967A-9312-D6BED68F19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17537-430E-8421-E689-3B8A9D4510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BC4A2-AA81-6941-9E84-50899CB54C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92966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B8AA7-95E9-3549-30F3-2B533AA02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BB8752-C939-E0A6-D433-09EC25351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E5380-5FAF-1495-42D4-FB958EF0A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C8A2B-F13F-2168-981D-62E0E4A036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0665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E58AE-DEED-BC57-6253-696256AE0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8DBE22-9D5B-5966-0EA6-85F9746DF2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91F618-0C8C-26E0-0CF1-90EC2F5C9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D35597-1F79-E4C0-22A0-04F83E6E2B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35832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2E75-D6E9-AF40-79FD-BBF2AE7EA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DD9E8F-1DEE-EFDC-0F2E-E5EF66A1A4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0E6843-AC39-91E1-04D7-F037F8791C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7C37E-2DCA-C71C-77B6-850E14E586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05498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A4C01-C84C-9427-B684-2E837D486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9925F4-851D-1E92-3AE0-0CC265989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C2922-EE37-3755-0762-3D6AAAEEA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ACD58-4EA1-A06B-85CC-C9B4D93CC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8724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BD5DE-61B2-C42D-9FF0-EB963B154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228A5F-8713-DEDF-062F-EB48EC1663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D426ED-FAB4-8F85-D551-2A1CA3CFA1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67270-9A71-9739-2488-26F6F27E6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35253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478E1-CFB3-E514-037C-0D9EB85CB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FB811A-8E62-B324-96DB-CF0E1E19F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2FE502-8165-8795-BAB4-02799F2CB9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331AA-91E9-594B-447C-C73146406F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800084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D1061-B3B4-3075-D6CC-384EE576F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2ABF58-C5BE-4C82-9508-4F3618AAF7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BD7B29-1E8A-1696-AB82-3EB6213843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C46EC-9337-68F0-1C0E-21EDBCD83D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0102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42BBF-D80B-E02C-340F-F18CF294C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C832FF-312A-227B-20CE-0096EB7209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BEEA0D-3D6D-8360-F755-594E7FB395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66925-19D8-4FAF-2340-DACA871A9F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306068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8B9B7-AA58-4CCF-7FBD-2FAEE5CE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391BD-E210-773F-DA51-92AB6912A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44E31-2BBF-CA80-62DE-B11A84511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8057C-6C08-54ED-4358-46C9C404C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63218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9B26D-ED03-36BA-A204-FC4CE1A7A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79AA55-340B-36B0-CB24-76332E6E9C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EB92A5-EFC3-A738-612D-42846F1FAE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DB5788-C98A-3E27-43D0-82B0E241E1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474594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CE9E6-57DA-2668-431C-EFC765AB2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DA08C7-BB24-5D8F-086D-147BA04CF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22D454-320C-1E57-AB52-F45A68325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C5129-35AB-D540-72DC-7675784484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30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221074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33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0361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951" y="2539093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8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951" y="4376057"/>
            <a:ext cx="10606097" cy="11348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177" indent="0" algn="ctr">
              <a:buNone/>
              <a:defRPr sz="2000"/>
            </a:lvl2pPr>
            <a:lvl3pPr marL="914355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3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127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869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AD23F-0E93-DF4A-8F98-CC7CE27E2020}"/>
              </a:ext>
            </a:extLst>
          </p:cNvPr>
          <p:cNvSpPr txBox="1"/>
          <p:nvPr/>
        </p:nvSpPr>
        <p:spPr>
          <a:xfrm>
            <a:off x="1981329" y="679939"/>
            <a:ext cx="1847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38325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5506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78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93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ighlight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8116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0218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ADA339-B7CC-2B4C-9CB9-A33E03B63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951" y="2785277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819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r large charts/images/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11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tarburs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4283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2324503-65B2-B147-B7D0-901C284D8BB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350AE0C-6DEA-8141-A29A-9086B1E53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32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589" indent="-228589" algn="l" defTabSz="91435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76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43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20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297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475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2479D-7383-A062-82D7-132E719500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SDEV2150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870D04-5049-481F-17B3-6CAD790966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13: Lifting State and Shared State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396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1445B-2B4F-5954-E61B-77DD40F77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65CDC-2775-AA01-C4E4-CBD66BB41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In this lesson, students will: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Explain the concept of lifting state and when it should be applied</a:t>
            </a:r>
          </a:p>
          <a:p>
            <a:r>
              <a:rPr lang="en-US" dirty="0"/>
              <a:t>Pass state and event handlers between parent and child components</a:t>
            </a:r>
          </a:p>
          <a:p>
            <a:r>
              <a:rPr lang="en-US" dirty="0"/>
              <a:t>Identify problems caused by duplicated state</a:t>
            </a:r>
          </a:p>
          <a:p>
            <a:r>
              <a:rPr lang="en-US" dirty="0"/>
              <a:t>Describe the challenges of prop drilling</a:t>
            </a:r>
          </a:p>
        </p:txBody>
      </p:sp>
    </p:spTree>
    <p:extLst>
      <p:ext uri="{BB962C8B-B14F-4D97-AF65-F5344CB8AC3E}">
        <p14:creationId xmlns:p14="http://schemas.microsoft.com/office/powerpoint/2010/main" val="1973787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6C05A-AE25-1768-8A9B-9E1C6122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481B4-3432-EE69-114F-1E97A4260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Recap: Local state and events</a:t>
            </a:r>
          </a:p>
          <a:p>
            <a:r>
              <a:rPr lang="en-US" dirty="0"/>
              <a:t>The problem of duplicated state</a:t>
            </a:r>
          </a:p>
          <a:p>
            <a:r>
              <a:rPr lang="en-US" dirty="0"/>
              <a:t>Identifying shared state</a:t>
            </a:r>
          </a:p>
          <a:p>
            <a:r>
              <a:rPr lang="en-US" dirty="0"/>
              <a:t>Lifting state to a common ancestor</a:t>
            </a:r>
          </a:p>
          <a:p>
            <a:r>
              <a:rPr lang="en-US" dirty="0"/>
              <a:t>Data flow patterns in React</a:t>
            </a:r>
          </a:p>
          <a:p>
            <a:r>
              <a:rPr lang="en-US" dirty="0"/>
              <a:t>Prop drilling discussion</a:t>
            </a:r>
          </a:p>
          <a:p>
            <a:r>
              <a:rPr lang="en-US" dirty="0"/>
              <a:t>Exit ticket</a:t>
            </a:r>
          </a:p>
        </p:txBody>
      </p:sp>
    </p:spTree>
    <p:extLst>
      <p:ext uri="{BB962C8B-B14F-4D97-AF65-F5344CB8AC3E}">
        <p14:creationId xmlns:p14="http://schemas.microsoft.com/office/powerpoint/2010/main" val="1231324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AEED0-DDE6-8C55-40FD-B519647BD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1B982-B120-50FB-49C1-AD22E1B10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Connecting</a:t>
            </a:r>
          </a:p>
        </p:txBody>
      </p:sp>
    </p:spTree>
    <p:extLst>
      <p:ext uri="{BB962C8B-B14F-4D97-AF65-F5344CB8AC3E}">
        <p14:creationId xmlns:p14="http://schemas.microsoft.com/office/powerpoint/2010/main" val="126031711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C1F16-3474-C259-3A81-449262C38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7A18-9B1C-5D39-C1F3-CA18B29F3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Review from last lesson</a:t>
            </a:r>
            <a:endParaRPr lang="en-CA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A2C2F-55AB-166E-85E7-C1815433E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Components can manage local state</a:t>
            </a:r>
          </a:p>
          <a:p>
            <a:r>
              <a:rPr lang="en-US" dirty="0"/>
              <a:t>State changes trigger re-renders</a:t>
            </a:r>
          </a:p>
          <a:p>
            <a:r>
              <a:rPr lang="en-US" dirty="0"/>
              <a:t>Events update state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But what happens when multiple components need the same data?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92794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52A6-B6C0-A97B-A6FC-A05487E60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2162D-6F79-9F91-305A-598E214D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The Core Problem</a:t>
            </a:r>
          </a:p>
        </p:txBody>
      </p:sp>
    </p:spTree>
    <p:extLst>
      <p:ext uri="{BB962C8B-B14F-4D97-AF65-F5344CB8AC3E}">
        <p14:creationId xmlns:p14="http://schemas.microsoft.com/office/powerpoint/2010/main" val="1731326145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21949-70E6-524C-C90E-FD61F5759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Duplicated state leads to inconsistency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8D638-C70C-9E14-E05B-EC549CBAB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If two components store the same piece of data: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They can fall out of sync</a:t>
            </a:r>
          </a:p>
          <a:p>
            <a:r>
              <a:rPr lang="en-US" dirty="0"/>
              <a:t>UI becomes unpredictable</a:t>
            </a:r>
          </a:p>
          <a:p>
            <a:r>
              <a:rPr lang="en-US" dirty="0"/>
              <a:t>Debugging becomes harder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State should exist in one place.</a:t>
            </a:r>
          </a:p>
        </p:txBody>
      </p:sp>
    </p:spTree>
    <p:extLst>
      <p:ext uri="{BB962C8B-B14F-4D97-AF65-F5344CB8AC3E}">
        <p14:creationId xmlns:p14="http://schemas.microsoft.com/office/powerpoint/2010/main" val="4045460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D1674-0C00-994F-3851-3DD0F7D40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D86F6-244E-2771-CFCA-127394EA4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Identifying Shared State</a:t>
            </a:r>
          </a:p>
        </p:txBody>
      </p:sp>
    </p:spTree>
    <p:extLst>
      <p:ext uri="{BB962C8B-B14F-4D97-AF65-F5344CB8AC3E}">
        <p14:creationId xmlns:p14="http://schemas.microsoft.com/office/powerpoint/2010/main" val="2511367113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C3932-1F51-8F04-4501-BFDA63936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an example of a user interaction that requires state to update the UI?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29AD5-7EEF-A6B5-9788-0A900F264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Ask two questions: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Who needs this data?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Where is their nearest common ancestor?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answer determines where state should live.</a:t>
            </a:r>
          </a:p>
        </p:txBody>
      </p:sp>
    </p:spTree>
    <p:extLst>
      <p:ext uri="{BB962C8B-B14F-4D97-AF65-F5344CB8AC3E}">
        <p14:creationId xmlns:p14="http://schemas.microsoft.com/office/powerpoint/2010/main" val="3128015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E8DDC-5CAF-8C2E-AC71-BD16391A4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FF2E8-4E54-ED2C-0752-EE01D1D68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Lifting State Up</a:t>
            </a:r>
          </a:p>
        </p:txBody>
      </p:sp>
    </p:spTree>
    <p:extLst>
      <p:ext uri="{BB962C8B-B14F-4D97-AF65-F5344CB8AC3E}">
        <p14:creationId xmlns:p14="http://schemas.microsoft.com/office/powerpoint/2010/main" val="1484660151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39576-5427-0ADA-10F4-865ACD2F3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E519A-A233-24D7-52BE-831AD2B5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it means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6DEC3-94B8-5AF7-B03D-628C50C5A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Move shared state from child components to their nearest common parent.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The parent becomes the single source of truth.</a:t>
            </a:r>
          </a:p>
        </p:txBody>
      </p:sp>
    </p:spTree>
    <p:extLst>
      <p:ext uri="{BB962C8B-B14F-4D97-AF65-F5344CB8AC3E}">
        <p14:creationId xmlns:p14="http://schemas.microsoft.com/office/powerpoint/2010/main" val="2446176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44B37-6330-3D14-994A-856BB88E2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0D9DD-B0CB-06AD-DA6C-A16CABA60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cap="none" dirty="0"/>
              <a:t>BEFORE AND AFTER</a:t>
            </a:r>
          </a:p>
        </p:txBody>
      </p:sp>
    </p:spTree>
    <p:extLst>
      <p:ext uri="{BB962C8B-B14F-4D97-AF65-F5344CB8AC3E}">
        <p14:creationId xmlns:p14="http://schemas.microsoft.com/office/powerpoint/2010/main" val="3341591696"/>
      </p:ext>
    </p:extLst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D9768-B8BB-1AEA-D538-D18DEA286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D0AB4-581D-3B24-E768-6DC3BCB7C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lifting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FE643-E95A-8E85-A833-3F24CA2C5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Child owns state</a:t>
            </a:r>
          </a:p>
          <a:p>
            <a:r>
              <a:rPr lang="en-US" dirty="0"/>
              <a:t>Sibling components cannot access it</a:t>
            </a:r>
          </a:p>
        </p:txBody>
      </p:sp>
    </p:spTree>
    <p:extLst>
      <p:ext uri="{BB962C8B-B14F-4D97-AF65-F5344CB8AC3E}">
        <p14:creationId xmlns:p14="http://schemas.microsoft.com/office/powerpoint/2010/main" val="36395276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17176-BA29-A6B4-FA31-120A15379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0D635-563C-786F-0883-F039EA524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 lifting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9B92B-BD69-A233-2C55-51F5EB3A7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Parent owns state</a:t>
            </a:r>
          </a:p>
          <a:p>
            <a:r>
              <a:rPr lang="en-US" dirty="0"/>
              <a:t>Children receive state via props</a:t>
            </a:r>
          </a:p>
          <a:p>
            <a:r>
              <a:rPr lang="en-US" dirty="0"/>
              <a:t>Children notify parent via callbacks</a:t>
            </a:r>
          </a:p>
        </p:txBody>
      </p:sp>
    </p:spTree>
    <p:extLst>
      <p:ext uri="{BB962C8B-B14F-4D97-AF65-F5344CB8AC3E}">
        <p14:creationId xmlns:p14="http://schemas.microsoft.com/office/powerpoint/2010/main" val="24233628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21F8D-058A-8175-F2A7-5821479AD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F7730-3BB5-F427-473C-7B2489915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React Data Flow</a:t>
            </a:r>
          </a:p>
        </p:txBody>
      </p:sp>
    </p:spTree>
    <p:extLst>
      <p:ext uri="{BB962C8B-B14F-4D97-AF65-F5344CB8AC3E}">
        <p14:creationId xmlns:p14="http://schemas.microsoft.com/office/powerpoint/2010/main" val="746458785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EC1F1-084A-F978-AD19-FC8928A6B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40565-C5D2-B494-7F34-B87C4F83C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One-way data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43AC8-9404-3E45-2BB8-524319B1A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flows down via props.</a:t>
            </a:r>
          </a:p>
          <a:p>
            <a:r>
              <a:rPr lang="en-US" dirty="0"/>
              <a:t>Events flow up via callbacks.</a:t>
            </a:r>
          </a:p>
          <a:p>
            <a:r>
              <a:rPr lang="en-US" dirty="0"/>
              <a:t>The parent coordinates updates.</a:t>
            </a:r>
          </a:p>
        </p:txBody>
      </p:sp>
    </p:spTree>
    <p:extLst>
      <p:ext uri="{BB962C8B-B14F-4D97-AF65-F5344CB8AC3E}">
        <p14:creationId xmlns:p14="http://schemas.microsoft.com/office/powerpoint/2010/main" val="7656389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49BB5-66C3-BD9B-A70C-B3B0E3966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85B8E-CFB5-5DB8-9F62-98193E27C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Example Pattern</a:t>
            </a:r>
          </a:p>
        </p:txBody>
      </p:sp>
    </p:spTree>
    <p:extLst>
      <p:ext uri="{BB962C8B-B14F-4D97-AF65-F5344CB8AC3E}">
        <p14:creationId xmlns:p14="http://schemas.microsoft.com/office/powerpoint/2010/main" val="3204336034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2B89F-1AB9-8574-CCFA-ADBF88B73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5859-94EF-C7E0-B65A-C84A04C86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dirty="0"/>
              <a:t>Parent component: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const [value,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setValue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] =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useState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initialValue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Pass down:</a:t>
            </a:r>
          </a:p>
          <a:p>
            <a:pPr marL="0" indent="0">
              <a:buNone/>
            </a:pP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&lt;Child value={value}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onChange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={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setValue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} /&gt;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Child notifies parent:</a:t>
            </a:r>
          </a:p>
          <a:p>
            <a:pPr marL="0" indent="0">
              <a:buNone/>
            </a:pP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onClick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={() =&gt;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onChange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newValue</a:t>
            </a:r>
            <a:r>
              <a:rPr lang="en-CA" dirty="0">
                <a:latin typeface="Consolas" panose="020B0609020204030204" pitchFamily="49" charset="0"/>
                <a:cs typeface="Consolas" panose="020B0609020204030204" pitchFamily="49" charset="0"/>
              </a:rPr>
              <a:t>)}</a:t>
            </a:r>
          </a:p>
          <a:p>
            <a:pPr marL="0" indent="0">
              <a:buNone/>
            </a:pPr>
            <a:endParaRPr lang="en-US" i="1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C10EFA-888F-E50C-8A27-D5391F285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1625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1F6F3-B989-7315-DE91-C8358AF4D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934F7-E58B-8CD2-A5B6-DC69A2DDC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Conditional Rendering</a:t>
            </a:r>
          </a:p>
        </p:txBody>
      </p:sp>
    </p:spTree>
    <p:extLst>
      <p:ext uri="{BB962C8B-B14F-4D97-AF65-F5344CB8AC3E}">
        <p14:creationId xmlns:p14="http://schemas.microsoft.com/office/powerpoint/2010/main" val="1664216461"/>
      </p:ext>
    </p:extLst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82BA4-0653-9ED4-4751-5DF80DA9F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6968D-EA92-8E7D-6693-0780B31AF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Controlled means state owns the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6CEA0-D384-C6B5-E44E-035ACCD98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Render UI based on state.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Logical AND: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{condition &amp;&amp; &lt;Component /&gt;}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Ternary: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900" dirty="0">
                <a:latin typeface="Consolas" panose="020B0609020204030204" pitchFamily="49" charset="0"/>
                <a:cs typeface="Consolas" panose="020B0609020204030204" pitchFamily="49" charset="0"/>
              </a:rPr>
              <a:t>{condition ? &lt;A /&gt; : &lt;B /&gt;}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UI should derive from state, not manual DOM changes.</a:t>
            </a:r>
          </a:p>
        </p:txBody>
      </p:sp>
    </p:spTree>
    <p:extLst>
      <p:ext uri="{BB962C8B-B14F-4D97-AF65-F5344CB8AC3E}">
        <p14:creationId xmlns:p14="http://schemas.microsoft.com/office/powerpoint/2010/main" val="41004864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16122-5E34-6F12-A68D-829899A5B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F0D17-227C-934E-AAF2-02FCCB258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Derived Data</a:t>
            </a:r>
          </a:p>
        </p:txBody>
      </p:sp>
    </p:spTree>
    <p:extLst>
      <p:ext uri="{BB962C8B-B14F-4D97-AF65-F5344CB8AC3E}">
        <p14:creationId xmlns:p14="http://schemas.microsoft.com/office/powerpoint/2010/main" val="1066761379"/>
      </p:ext>
    </p:extLst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D126A-E57D-3DC3-8E51-E606AFB1E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CF760-80F6-9431-897D-0F1BAB564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E8BFB-C5BC-76ED-D6BE-F395536899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Avoid storing data that can be calculated.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Instead of storing filtered results in state: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const filtered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items.filter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(...);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Derive it from existing state.</a:t>
            </a:r>
          </a:p>
        </p:txBody>
      </p:sp>
    </p:spTree>
    <p:extLst>
      <p:ext uri="{BB962C8B-B14F-4D97-AF65-F5344CB8AC3E}">
        <p14:creationId xmlns:p14="http://schemas.microsoft.com/office/powerpoint/2010/main" val="41646513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697ED-1A86-7595-D23E-F8376E4E4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3BA97-EC18-0E4E-31EE-2E40D2022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Prop Drilling</a:t>
            </a:r>
          </a:p>
        </p:txBody>
      </p:sp>
    </p:spTree>
    <p:extLst>
      <p:ext uri="{BB962C8B-B14F-4D97-AF65-F5344CB8AC3E}">
        <p14:creationId xmlns:p14="http://schemas.microsoft.com/office/powerpoint/2010/main" val="1875263794"/>
      </p:ext>
    </p:extLst>
  </p:cSld>
  <p:clrMapOvr>
    <a:masterClrMapping/>
  </p:clrMapOvr>
  <p:transition spd="med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BB277-4106-5BAB-8F1A-77563C403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0BFBC-60C8-98C7-1978-60FBF3C80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When state is lifted high in the tree, props may need to pass through multiple layers.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can: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Increase complexity</a:t>
            </a:r>
          </a:p>
          <a:p>
            <a:r>
              <a:rPr lang="en-US" dirty="0"/>
              <a:t>Reduce readability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But it preserves explicit data flow.</a:t>
            </a:r>
          </a:p>
        </p:txBody>
      </p:sp>
    </p:spTree>
    <p:extLst>
      <p:ext uri="{BB962C8B-B14F-4D97-AF65-F5344CB8AC3E}">
        <p14:creationId xmlns:p14="http://schemas.microsoft.com/office/powerpoint/2010/main" val="11197697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3DCED-BD7D-423F-BC12-C067621C7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A8B9D-EC0D-F45B-910F-44C91520A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When to Lift State</a:t>
            </a:r>
          </a:p>
        </p:txBody>
      </p:sp>
    </p:spTree>
    <p:extLst>
      <p:ext uri="{BB962C8B-B14F-4D97-AF65-F5344CB8AC3E}">
        <p14:creationId xmlns:p14="http://schemas.microsoft.com/office/powerpoint/2010/main" val="1252950983"/>
      </p:ext>
    </p:extLst>
  </p:cSld>
  <p:clrMapOvr>
    <a:masterClrMapping/>
  </p:clrMapOvr>
  <p:transition spd="med">
    <p:pull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7D20D-B41B-FFF5-0DE3-609C212D7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81F49-1182-CB7E-0C10-4858B0721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Lift state when: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Multiple components depend on the same data</a:t>
            </a:r>
          </a:p>
          <a:p>
            <a:r>
              <a:rPr lang="en-US" dirty="0"/>
              <a:t>One component’s action affects another</a:t>
            </a:r>
          </a:p>
          <a:p>
            <a:r>
              <a:rPr lang="en-US" dirty="0"/>
              <a:t>You see duplicated state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Do not lift state unnecessarily.</a:t>
            </a:r>
          </a:p>
        </p:txBody>
      </p:sp>
    </p:spTree>
    <p:extLst>
      <p:ext uri="{BB962C8B-B14F-4D97-AF65-F5344CB8AC3E}">
        <p14:creationId xmlns:p14="http://schemas.microsoft.com/office/powerpoint/2010/main" val="42492459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9E497-0B96-A988-B0F7-8671A8753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D4F01-BCF7-C81D-4DF6-ED373D11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Hands-on Practice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A23C2-1004-2B1E-AEF1-B53F9E21E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dirty="0"/>
              <a:t>Exercise: Refactor your existing exercise project to lift state to the nearest common parent</a:t>
            </a:r>
          </a:p>
          <a:p>
            <a:pPr marL="0" indent="0">
              <a:buNone/>
            </a:pPr>
            <a:r>
              <a:rPr lang="en-CA" b="1" dirty="0"/>
              <a:t>Objective: </a:t>
            </a:r>
            <a:r>
              <a:rPr lang="en-CA" dirty="0"/>
              <a:t>Implement shared state across several components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Obtain the exercise starter files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Create state at the necessary level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Pass state and setter functions to required child components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Ask questions if you are unsure of what to do or how the code works.</a:t>
            </a:r>
          </a:p>
          <a:p>
            <a:pPr marL="971527" lvl="1" indent="-514350">
              <a:buFont typeface="+mj-lt"/>
              <a:buAutoNum type="arabicPeriod"/>
            </a:pP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8885256"/>
      </p:ext>
    </p:extLst>
  </p:cSld>
  <p:clrMapOvr>
    <a:masterClrMapping/>
  </p:clrMapOvr>
  <p:transition spd="med">
    <p:pull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24942-DF43-4262-B18C-CF1D71F03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8B497-5A27-6500-0158-068F9E1BE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Common Mistakes</a:t>
            </a:r>
          </a:p>
        </p:txBody>
      </p:sp>
    </p:spTree>
    <p:extLst>
      <p:ext uri="{BB962C8B-B14F-4D97-AF65-F5344CB8AC3E}">
        <p14:creationId xmlns:p14="http://schemas.microsoft.com/office/powerpoint/2010/main" val="2885888700"/>
      </p:ext>
    </p:extLst>
  </p:cSld>
  <p:clrMapOvr>
    <a:masterClrMapping/>
  </p:clrMapOvr>
  <p:transition spd="med">
    <p:pull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0C557-F5E2-27E5-0ED5-8A699B757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F12DF-2C06-8C47-389B-45419C40C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Duplicating shared state</a:t>
            </a:r>
          </a:p>
          <a:p>
            <a:r>
              <a:rPr lang="en-US" dirty="0"/>
              <a:t>Storing derived data in state</a:t>
            </a:r>
          </a:p>
          <a:p>
            <a:r>
              <a:rPr lang="en-US" dirty="0"/>
              <a:t>Forgetting to pass callbacks</a:t>
            </a:r>
          </a:p>
          <a:p>
            <a:r>
              <a:rPr lang="en-US" dirty="0"/>
              <a:t>Mutating state directly</a:t>
            </a:r>
          </a:p>
          <a:p>
            <a:r>
              <a:rPr lang="en-US" dirty="0"/>
              <a:t>Lifting state too high without reason</a:t>
            </a:r>
          </a:p>
        </p:txBody>
      </p:sp>
    </p:spTree>
    <p:extLst>
      <p:ext uri="{BB962C8B-B14F-4D97-AF65-F5344CB8AC3E}">
        <p14:creationId xmlns:p14="http://schemas.microsoft.com/office/powerpoint/2010/main" val="12935392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1D267-295B-8BC6-526B-F7AF72936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88993-A1E9-DD98-6466-3FA55B3B8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Quick Poll</a:t>
            </a:r>
          </a:p>
        </p:txBody>
      </p:sp>
    </p:spTree>
    <p:extLst>
      <p:ext uri="{BB962C8B-B14F-4D97-AF65-F5344CB8AC3E}">
        <p14:creationId xmlns:p14="http://schemas.microsoft.com/office/powerpoint/2010/main" val="412320587"/>
      </p:ext>
    </p:extLst>
  </p:cSld>
  <p:clrMapOvr>
    <a:masterClrMapping/>
  </p:clrMapOvr>
  <p:transition spd="med">
    <p:pull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9F378-947C-7BA3-AFE0-EFB3BB840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65DB5-5309-A725-8C04-D7ACAF334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should shared state live?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51A40-7173-1A79-5623-9E424F676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dirty="0"/>
              <a:t>In every component that uses it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In the nearest common parent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In a global variable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In local variables only</a:t>
            </a:r>
          </a:p>
        </p:txBody>
      </p:sp>
    </p:spTree>
    <p:extLst>
      <p:ext uri="{BB962C8B-B14F-4D97-AF65-F5344CB8AC3E}">
        <p14:creationId xmlns:p14="http://schemas.microsoft.com/office/powerpoint/2010/main" val="8219635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7F87A-EC3B-6F87-073F-5EA32E94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FA4A7-5289-6F66-D4CE-FCD9F7DE8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this lesson, we covered the following:</a:t>
            </a:r>
          </a:p>
          <a:p>
            <a:pPr marL="914377" lvl="1" indent="-457200">
              <a:buFont typeface="+mj-lt"/>
              <a:buAutoNum type="arabicPeriod"/>
            </a:pPr>
            <a:r>
              <a:rPr lang="en-US" dirty="0"/>
              <a:t>Explain the concept of lifting state and when it should be applied</a:t>
            </a:r>
          </a:p>
          <a:p>
            <a:pPr marL="914377" lvl="1" indent="-457200">
              <a:buFont typeface="+mj-lt"/>
              <a:buAutoNum type="arabicPeriod"/>
            </a:pPr>
            <a:r>
              <a:rPr lang="en-US" dirty="0"/>
              <a:t>Pass state and event handlers between parent and child components</a:t>
            </a:r>
          </a:p>
          <a:p>
            <a:pPr marL="914377" lvl="1" indent="-457200">
              <a:buFont typeface="+mj-lt"/>
              <a:buAutoNum type="arabicPeriod"/>
            </a:pPr>
            <a:r>
              <a:rPr lang="en-US" dirty="0"/>
              <a:t>Identify problems caused by duplicated state</a:t>
            </a:r>
          </a:p>
          <a:p>
            <a:pPr marL="914377" lvl="1" indent="-457200">
              <a:buFont typeface="+mj-lt"/>
              <a:buAutoNum type="arabicPeriod"/>
            </a:pPr>
            <a:r>
              <a:rPr lang="en-US" dirty="0"/>
              <a:t>Describe the challenges of prop drilling</a:t>
            </a:r>
          </a:p>
          <a:p>
            <a:pPr marL="457200" lvl="1" indent="0">
              <a:buNone/>
            </a:pPr>
            <a:endParaRPr lang="en-US" dirty="0"/>
          </a:p>
          <a:p>
            <a:pPr marL="514373" indent="-514350"/>
            <a:r>
              <a:rPr lang="en-CA" dirty="0"/>
              <a:t>Complete lesson 13 checklist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7582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17D3-7614-08E1-2AAC-01DF58360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3BE39-AE9E-C416-EC64-744B7883B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Submit: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 short explanation of lifting state</a:t>
            </a:r>
          </a:p>
          <a:p>
            <a:r>
              <a:rPr lang="en-US" dirty="0"/>
              <a:t>One code example showing parent to child data flow</a:t>
            </a:r>
          </a:p>
          <a:p>
            <a:r>
              <a:rPr lang="en-US" dirty="0"/>
              <a:t>One potential drawback of prop drilling</a:t>
            </a:r>
          </a:p>
        </p:txBody>
      </p:sp>
    </p:spTree>
    <p:extLst>
      <p:ext uri="{BB962C8B-B14F-4D97-AF65-F5344CB8AC3E}">
        <p14:creationId xmlns:p14="http://schemas.microsoft.com/office/powerpoint/2010/main" val="1481093830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Day N - PPT 1">
  <a:themeElements>
    <a:clrScheme name="NAIT 2020">
      <a:dk1>
        <a:sysClr val="windowText" lastClr="000000"/>
      </a:dk1>
      <a:lt1>
        <a:sysClr val="window" lastClr="FFFFFF"/>
      </a:lt1>
      <a:dk2>
        <a:srgbClr val="63666A"/>
      </a:dk2>
      <a:lt2>
        <a:srgbClr val="F2F2F2"/>
      </a:lt2>
      <a:accent1>
        <a:srgbClr val="002D74"/>
      </a:accent1>
      <a:accent2>
        <a:srgbClr val="00A0DF"/>
      </a:accent2>
      <a:accent3>
        <a:srgbClr val="005CB9"/>
      </a:accent3>
      <a:accent4>
        <a:srgbClr val="2AD2C9"/>
      </a:accent4>
      <a:accent5>
        <a:srgbClr val="97D700"/>
      </a:accent5>
      <a:accent6>
        <a:srgbClr val="F2A900"/>
      </a:accent6>
      <a:hlink>
        <a:srgbClr val="00AEFF"/>
      </a:hlink>
      <a:folHlink>
        <a:srgbClr val="981D9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IT PPT TEMPLATE" id="{48C832B7-36DA-FF42-A033-DC69DF6E754B}" vid="{12E7E523-AC5B-2043-BD48-32C2D6EE82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Day N - PPT 1</Template>
  <TotalTime>16884</TotalTime>
  <Words>650</Words>
  <Application>Microsoft Macintosh PowerPoint</Application>
  <PresentationFormat>Widescreen</PresentationFormat>
  <Paragraphs>155</Paragraphs>
  <Slides>33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Aptos</vt:lpstr>
      <vt:lpstr>Arial</vt:lpstr>
      <vt:lpstr>Consolas</vt:lpstr>
      <vt:lpstr>Day N - PPT 1</vt:lpstr>
      <vt:lpstr>SDEV2150</vt:lpstr>
      <vt:lpstr>Lesson Objectives</vt:lpstr>
      <vt:lpstr>Agenda</vt:lpstr>
      <vt:lpstr>Connecting</vt:lpstr>
      <vt:lpstr>Review from last lesson</vt:lpstr>
      <vt:lpstr>The Core Problem</vt:lpstr>
      <vt:lpstr>Duplicated state leads to inconsistency</vt:lpstr>
      <vt:lpstr>Identifying Shared State</vt:lpstr>
      <vt:lpstr>What’s an example of a user interaction that requires state to update the UI?</vt:lpstr>
      <vt:lpstr>Lifting State Up</vt:lpstr>
      <vt:lpstr>What it means</vt:lpstr>
      <vt:lpstr>BEFORE AND AFTER</vt:lpstr>
      <vt:lpstr>Before lifting</vt:lpstr>
      <vt:lpstr>After lifting</vt:lpstr>
      <vt:lpstr>React Data Flow</vt:lpstr>
      <vt:lpstr>One-way data flow</vt:lpstr>
      <vt:lpstr>Example Pattern</vt:lpstr>
      <vt:lpstr>PowerPoint Presentation</vt:lpstr>
      <vt:lpstr>Conditional Rendering</vt:lpstr>
      <vt:lpstr>Controlled means state owns the value</vt:lpstr>
      <vt:lpstr>Derived Data</vt:lpstr>
      <vt:lpstr>PowerPoint Presentation</vt:lpstr>
      <vt:lpstr>Prop Drilling</vt:lpstr>
      <vt:lpstr>PowerPoint Presentation</vt:lpstr>
      <vt:lpstr>When to Lift State</vt:lpstr>
      <vt:lpstr>PowerPoint Presentation</vt:lpstr>
      <vt:lpstr>Hands-on Practice</vt:lpstr>
      <vt:lpstr>Common Mistakes</vt:lpstr>
      <vt:lpstr>PowerPoint Presentation</vt:lpstr>
      <vt:lpstr>Quick Poll</vt:lpstr>
      <vt:lpstr>Where should shared state live?</vt:lpstr>
      <vt:lpstr>Lesson Summary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Humphrey</dc:creator>
  <cp:lastModifiedBy>Nathan Humphrey</cp:lastModifiedBy>
  <cp:revision>176</cp:revision>
  <dcterms:created xsi:type="dcterms:W3CDTF">2025-05-09T22:20:28Z</dcterms:created>
  <dcterms:modified xsi:type="dcterms:W3CDTF">2026-02-28T03:12:31Z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2025-05-09T22:21:39Z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ea09c963-5839-457c-a351-7e2868c7baef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